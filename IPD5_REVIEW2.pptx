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58" r:id="rId4"/>
    <p:sldId id="273" r:id="rId5"/>
    <p:sldId id="260" r:id="rId6"/>
    <p:sldId id="261" r:id="rId7"/>
    <p:sldId id="262" r:id="rId8"/>
    <p:sldId id="271" r:id="rId9"/>
    <p:sldId id="266" r:id="rId10"/>
    <p:sldId id="263" r:id="rId11"/>
    <p:sldId id="264" r:id="rId12"/>
    <p:sldId id="278" r:id="rId13"/>
    <p:sldId id="279" r:id="rId14"/>
    <p:sldId id="280" r:id="rId15"/>
    <p:sldId id="265" r:id="rId16"/>
    <p:sldId id="267" r:id="rId17"/>
    <p:sldId id="276" r:id="rId18"/>
    <p:sldId id="277" r:id="rId19"/>
    <p:sldId id="268" r:id="rId20"/>
    <p:sldId id="275" r:id="rId21"/>
    <p:sldId id="269" r:id="rId22"/>
    <p:sldId id="270" r:id="rId23"/>
    <p:sldId id="27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4660"/>
  </p:normalViewPr>
  <p:slideViewPr>
    <p:cSldViewPr snapToGrid="0">
      <p:cViewPr varScale="1">
        <p:scale>
          <a:sx n="71" d="100"/>
          <a:sy n="71" d="100"/>
        </p:scale>
        <p:origin x="523"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9/28/2026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9/28/2026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9/28/2026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dirty="0"/>
              <a:pPr/>
              <a:t>9/28/2026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9/28/2026</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9/28/2026</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9/28/2026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9/28/2026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9/28/2026</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9/28/2026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9/28/2026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dirty="0"/>
              <a:pPr/>
              <a:t>9/28/2026</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newsapi.org/docs?utm_source=chatgpt.com" TargetMode="External"/><Relationship Id="rId2" Type="http://schemas.openxmlformats.org/officeDocument/2006/relationships/hyperlink" Target="https://github.com/openai/whisper?utm_source=chatgpt.com" TargetMode="External"/><Relationship Id="rId1" Type="http://schemas.openxmlformats.org/officeDocument/2006/relationships/slideLayout" Target="../slideLayouts/slideLayout2.xml"/><Relationship Id="rId6" Type="http://schemas.openxmlformats.org/officeDocument/2006/relationships/hyperlink" Target="https://newsapi.org/docs/endpoints/everything?utm_source=chatgpt.com" TargetMode="External"/><Relationship Id="rId5" Type="http://schemas.openxmlformats.org/officeDocument/2006/relationships/hyperlink" Target="https://cdn.openai.com/papers/whisper.pdf?utm_source=chatgpt.com" TargetMode="External"/><Relationship Id="rId4" Type="http://schemas.openxmlformats.org/officeDocument/2006/relationships/hyperlink" Target="https://ai.google.dev/api?utm_source=chatgpt.com"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82309-986E-DC4B-1621-BBD9A8D69E19}"/>
              </a:ext>
            </a:extLst>
          </p:cNvPr>
          <p:cNvSpPr>
            <a:spLocks noGrp="1"/>
          </p:cNvSpPr>
          <p:nvPr>
            <p:ph type="ctrTitle"/>
          </p:nvPr>
        </p:nvSpPr>
        <p:spPr>
          <a:xfrm>
            <a:off x="759604" y="2042454"/>
            <a:ext cx="7412845" cy="847704"/>
          </a:xfrm>
        </p:spPr>
        <p:txBody>
          <a:bodyPr>
            <a:normAutofit/>
          </a:bodyPr>
          <a:lstStyle/>
          <a:p>
            <a:r>
              <a:rPr lang="en-US" sz="3200" b="1" dirty="0">
                <a:solidFill>
                  <a:srgbClr val="FF0000"/>
                </a:solidFill>
                <a:latin typeface="Aptos Narrow" panose="020B0004020202020204" pitchFamily="34" charset="0"/>
                <a:cs typeface="Times New Roman" panose="02020603050405020304" pitchFamily="18" charset="0"/>
              </a:rPr>
              <a:t>Title of the Idea: </a:t>
            </a:r>
            <a:r>
              <a:rPr lang="en-IN" sz="3200" dirty="0">
                <a:solidFill>
                  <a:srgbClr val="FF0000"/>
                </a:solidFill>
              </a:rPr>
              <a:t>AI-Based Video Fact Checker</a:t>
            </a:r>
            <a:endParaRPr lang="en-IN" sz="3200" dirty="0">
              <a:solidFill>
                <a:srgbClr val="FF0000"/>
              </a:solidFill>
              <a:latin typeface="Aptos Narrow" panose="020B0004020202020204" pitchFamily="34" charset="0"/>
            </a:endParaRPr>
          </a:p>
        </p:txBody>
      </p:sp>
      <p:sp>
        <p:nvSpPr>
          <p:cNvPr id="3" name="Subtitle 2">
            <a:extLst>
              <a:ext uri="{FF2B5EF4-FFF2-40B4-BE49-F238E27FC236}">
                <a16:creationId xmlns:a16="http://schemas.microsoft.com/office/drawing/2014/main" id="{D3318F77-6DBD-F022-B34F-B21BCBF66A1C}"/>
              </a:ext>
            </a:extLst>
          </p:cNvPr>
          <p:cNvSpPr>
            <a:spLocks noGrp="1"/>
          </p:cNvSpPr>
          <p:nvPr>
            <p:ph type="subTitle" idx="1"/>
          </p:nvPr>
        </p:nvSpPr>
        <p:spPr>
          <a:xfrm>
            <a:off x="865576" y="3113387"/>
            <a:ext cx="7200900" cy="1204302"/>
          </a:xfrm>
        </p:spPr>
        <p:txBody>
          <a:bodyPr>
            <a:normAutofit lnSpcReduction="10000"/>
          </a:bodyPr>
          <a:lstStyle/>
          <a:p>
            <a:r>
              <a:rPr lang="en-US" sz="2000" b="1" dirty="0">
                <a:solidFill>
                  <a:schemeClr val="tx1"/>
                </a:solidFill>
                <a:latin typeface="Aptos Narrow" panose="020B0004020202020204" pitchFamily="34" charset="0"/>
                <a:cs typeface="Times New Roman" panose="02020603050405020304" pitchFamily="18" charset="0"/>
              </a:rPr>
              <a:t>Name of the Students </a:t>
            </a:r>
            <a:r>
              <a:rPr lang="en-US" sz="2000" dirty="0">
                <a:solidFill>
                  <a:schemeClr val="tx1"/>
                </a:solidFill>
                <a:latin typeface="Aptos Narrow" panose="020B0004020202020204" pitchFamily="34" charset="0"/>
                <a:cs typeface="Times New Roman" panose="02020603050405020304" pitchFamily="18" charset="0"/>
              </a:rPr>
              <a:t>:       B. Nandini</a:t>
            </a:r>
          </a:p>
          <a:p>
            <a:r>
              <a:rPr lang="en-US" sz="2000" dirty="0">
                <a:solidFill>
                  <a:schemeClr val="tx1"/>
                </a:solidFill>
                <a:latin typeface="Aptos Narrow" panose="020B0004020202020204" pitchFamily="34" charset="0"/>
                <a:cs typeface="Times New Roman" panose="02020603050405020304" pitchFamily="18" charset="0"/>
              </a:rPr>
              <a:t>		                   B. Harini</a:t>
            </a:r>
          </a:p>
          <a:p>
            <a:r>
              <a:rPr lang="en-US" sz="2000" dirty="0">
                <a:solidFill>
                  <a:schemeClr val="tx1"/>
                </a:solidFill>
                <a:latin typeface="Aptos Narrow" panose="020B0004020202020204" pitchFamily="34" charset="0"/>
                <a:cs typeface="Times New Roman" panose="02020603050405020304" pitchFamily="18" charset="0"/>
              </a:rPr>
              <a:t>			B. Rohini</a:t>
            </a:r>
          </a:p>
          <a:p>
            <a:endParaRPr lang="en-US" sz="2000" b="1" dirty="0">
              <a:solidFill>
                <a:schemeClr val="tx1"/>
              </a:solidFill>
              <a:latin typeface="Aptos Narrow" panose="020B0004020202020204" pitchFamily="34"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IN" dirty="0"/>
          </a:p>
        </p:txBody>
      </p:sp>
      <p:sp>
        <p:nvSpPr>
          <p:cNvPr id="5" name="TextBox 4">
            <a:extLst>
              <a:ext uri="{FF2B5EF4-FFF2-40B4-BE49-F238E27FC236}">
                <a16:creationId xmlns:a16="http://schemas.microsoft.com/office/drawing/2014/main" id="{1AB24CE7-E1B2-8C8B-1E23-76AFCCEA82C1}"/>
              </a:ext>
            </a:extLst>
          </p:cNvPr>
          <p:cNvSpPr txBox="1"/>
          <p:nvPr/>
        </p:nvSpPr>
        <p:spPr>
          <a:xfrm>
            <a:off x="759604" y="4261352"/>
            <a:ext cx="6017078" cy="92333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Roll Numbers :                    </a:t>
            </a:r>
            <a:r>
              <a:rPr lang="en-US" dirty="0">
                <a:latin typeface="Times New Roman" panose="02020603050405020304" pitchFamily="18" charset="0"/>
                <a:cs typeface="Times New Roman" panose="02020603050405020304" pitchFamily="18" charset="0"/>
              </a:rPr>
              <a:t>24RH5A0508</a:t>
            </a:r>
          </a:p>
          <a:p>
            <a:r>
              <a:rPr lang="en-US" dirty="0">
                <a:latin typeface="Times New Roman" panose="02020603050405020304" pitchFamily="18" charset="0"/>
                <a:cs typeface="Times New Roman" panose="02020603050405020304" pitchFamily="18" charset="0"/>
              </a:rPr>
              <a:t>			                      23RH1A0594</a:t>
            </a:r>
          </a:p>
          <a:p>
            <a:r>
              <a:rPr lang="en-US" dirty="0">
                <a:latin typeface="Times New Roman" panose="02020603050405020304" pitchFamily="18" charset="0"/>
                <a:cs typeface="Times New Roman" panose="02020603050405020304" pitchFamily="18" charset="0"/>
              </a:rPr>
              <a:t>			                      23RH1A0580</a:t>
            </a:r>
            <a:endParaRPr lang="en-IN" dirty="0"/>
          </a:p>
        </p:txBody>
      </p:sp>
      <p:sp>
        <p:nvSpPr>
          <p:cNvPr id="6" name="TextBox 5">
            <a:extLst>
              <a:ext uri="{FF2B5EF4-FFF2-40B4-BE49-F238E27FC236}">
                <a16:creationId xmlns:a16="http://schemas.microsoft.com/office/drawing/2014/main" id="{FFC20F1A-21B6-36E6-36C8-E4716AD4CF9C}"/>
              </a:ext>
            </a:extLst>
          </p:cNvPr>
          <p:cNvSpPr txBox="1"/>
          <p:nvPr/>
        </p:nvSpPr>
        <p:spPr>
          <a:xfrm>
            <a:off x="895350" y="5241019"/>
            <a:ext cx="539659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Branch &amp; Year :  </a:t>
            </a:r>
            <a:r>
              <a:rPr lang="en-US" dirty="0">
                <a:latin typeface="Times New Roman" panose="02020603050405020304" pitchFamily="18" charset="0"/>
                <a:cs typeface="Times New Roman" panose="02020603050405020304" pitchFamily="18" charset="0"/>
              </a:rPr>
              <a:t>CSE IV  Year &amp; I Semester</a:t>
            </a:r>
          </a:p>
        </p:txBody>
      </p:sp>
      <p:sp>
        <p:nvSpPr>
          <p:cNvPr id="8" name="TextBox 7">
            <a:extLst>
              <a:ext uri="{FF2B5EF4-FFF2-40B4-BE49-F238E27FC236}">
                <a16:creationId xmlns:a16="http://schemas.microsoft.com/office/drawing/2014/main" id="{5126FAA5-0901-5AB6-245F-D197FE691E32}"/>
              </a:ext>
            </a:extLst>
          </p:cNvPr>
          <p:cNvSpPr txBox="1"/>
          <p:nvPr/>
        </p:nvSpPr>
        <p:spPr>
          <a:xfrm>
            <a:off x="895350" y="5682343"/>
            <a:ext cx="451485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Batch Number : 12</a:t>
            </a:r>
            <a:r>
              <a:rPr lang="en-US" dirty="0">
                <a:latin typeface="Times New Roman" panose="02020603050405020304" pitchFamily="18" charset="0"/>
                <a:cs typeface="Times New Roman" panose="02020603050405020304" pitchFamily="18" charset="0"/>
              </a:rPr>
              <a:t> </a:t>
            </a:r>
          </a:p>
        </p:txBody>
      </p:sp>
      <p:pic>
        <p:nvPicPr>
          <p:cNvPr id="9" name="Picture 8">
            <a:extLst>
              <a:ext uri="{FF2B5EF4-FFF2-40B4-BE49-F238E27FC236}">
                <a16:creationId xmlns:a16="http://schemas.microsoft.com/office/drawing/2014/main" id="{90132653-2C53-4054-2CB4-5ECEE19F32F6}"/>
              </a:ext>
            </a:extLst>
          </p:cNvPr>
          <p:cNvPicPr>
            <a:picLocks noChangeAspect="1"/>
          </p:cNvPicPr>
          <p:nvPr/>
        </p:nvPicPr>
        <p:blipFill>
          <a:blip r:embed="rId2"/>
          <a:stretch>
            <a:fillRect/>
          </a:stretch>
        </p:blipFill>
        <p:spPr>
          <a:xfrm>
            <a:off x="0" y="0"/>
            <a:ext cx="12192000" cy="1775460"/>
          </a:xfrm>
          <a:prstGeom prst="rect">
            <a:avLst/>
          </a:prstGeom>
        </p:spPr>
      </p:pic>
    </p:spTree>
    <p:extLst>
      <p:ext uri="{BB962C8B-B14F-4D97-AF65-F5344CB8AC3E}">
        <p14:creationId xmlns:p14="http://schemas.microsoft.com/office/powerpoint/2010/main" val="1292246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124EA-96E5-77B7-4BBA-FA60AFCE2FAE}"/>
              </a:ext>
            </a:extLst>
          </p:cNvPr>
          <p:cNvSpPr>
            <a:spLocks noGrp="1"/>
          </p:cNvSpPr>
          <p:nvPr>
            <p:ph type="title"/>
          </p:nvPr>
        </p:nvSpPr>
        <p:spPr>
          <a:xfrm>
            <a:off x="236764" y="1123837"/>
            <a:ext cx="2963637" cy="4601183"/>
          </a:xfrm>
        </p:spPr>
        <p:txBody>
          <a:bodyPr>
            <a:normAutofit/>
          </a:bodyPr>
          <a:lstStyle/>
          <a:p>
            <a:r>
              <a:rPr lang="en-US" sz="3200" b="1" dirty="0">
                <a:solidFill>
                  <a:schemeClr val="tx1"/>
                </a:solidFill>
                <a:latin typeface="Aptos Narrow" panose="020B0004020202020204" pitchFamily="34" charset="0"/>
              </a:rPr>
              <a:t>CONTENTS</a:t>
            </a:r>
            <a:endParaRPr lang="en-IN" sz="3200" b="1" dirty="0">
              <a:solidFill>
                <a:schemeClr val="tx1"/>
              </a:solidFill>
              <a:latin typeface="Aptos Narrow" panose="020B0004020202020204" pitchFamily="34" charset="0"/>
            </a:endParaRPr>
          </a:p>
        </p:txBody>
      </p:sp>
      <p:sp>
        <p:nvSpPr>
          <p:cNvPr id="3" name="Content Placeholder 2">
            <a:extLst>
              <a:ext uri="{FF2B5EF4-FFF2-40B4-BE49-F238E27FC236}">
                <a16:creationId xmlns:a16="http://schemas.microsoft.com/office/drawing/2014/main" id="{31768389-1E8D-75BE-84F8-D517BF16DB70}"/>
              </a:ext>
            </a:extLst>
          </p:cNvPr>
          <p:cNvSpPr>
            <a:spLocks noGrp="1"/>
          </p:cNvSpPr>
          <p:nvPr>
            <p:ph idx="1"/>
          </p:nvPr>
        </p:nvSpPr>
        <p:spPr>
          <a:xfrm>
            <a:off x="5192486" y="864108"/>
            <a:ext cx="5991982" cy="5120640"/>
          </a:xfrm>
        </p:spPr>
        <p:txBody>
          <a:bodyPr>
            <a:normAutofit/>
          </a:bodyPr>
          <a:lstStyle/>
          <a:p>
            <a:r>
              <a:rPr lang="en-US" b="1" dirty="0">
                <a:latin typeface="Aptos Narrow" panose="020B0004020202020204" pitchFamily="34" charset="0"/>
              </a:rPr>
              <a:t>INTRODUCTION</a:t>
            </a:r>
          </a:p>
          <a:p>
            <a:r>
              <a:rPr lang="en-US" b="1" dirty="0">
                <a:latin typeface="Aptos Narrow" panose="020B0004020202020204" pitchFamily="34" charset="0"/>
              </a:rPr>
              <a:t>EXISTING SYSTEM </a:t>
            </a:r>
          </a:p>
          <a:p>
            <a:r>
              <a:rPr lang="en-US" b="1" dirty="0">
                <a:latin typeface="Aptos Narrow" panose="020B0004020202020204" pitchFamily="34" charset="0"/>
              </a:rPr>
              <a:t>PROPOSED SYSTEM </a:t>
            </a:r>
          </a:p>
          <a:p>
            <a:r>
              <a:rPr lang="en-US" b="1" dirty="0">
                <a:latin typeface="Aptos Narrow" panose="020B0004020202020204" pitchFamily="34" charset="0"/>
              </a:rPr>
              <a:t>FEATURES ADDED</a:t>
            </a:r>
          </a:p>
          <a:p>
            <a:r>
              <a:rPr lang="en-US" b="1" dirty="0">
                <a:latin typeface="Aptos Narrow" panose="020B0004020202020204" pitchFamily="34" charset="0"/>
              </a:rPr>
              <a:t>TECHNOLOGIES USED</a:t>
            </a:r>
          </a:p>
          <a:p>
            <a:r>
              <a:rPr lang="en-US" b="1" dirty="0">
                <a:latin typeface="Aptos Narrow" panose="020B0004020202020204" pitchFamily="34" charset="0"/>
              </a:rPr>
              <a:t>ADVANTAGES OF PROPOSED SYSTEM</a:t>
            </a:r>
          </a:p>
          <a:p>
            <a:r>
              <a:rPr lang="en-US" b="1" dirty="0">
                <a:latin typeface="Aptos Narrow" panose="020B0004020202020204" pitchFamily="34" charset="0"/>
              </a:rPr>
              <a:t>MODULES USED</a:t>
            </a:r>
          </a:p>
          <a:p>
            <a:r>
              <a:rPr lang="en-US" b="1" dirty="0">
                <a:latin typeface="Aptos Narrow" panose="020B0004020202020204" pitchFamily="34" charset="0"/>
              </a:rPr>
              <a:t>SYSTEM ARCHITECTURE</a:t>
            </a:r>
          </a:p>
          <a:p>
            <a:r>
              <a:rPr lang="en-US" b="1" dirty="0">
                <a:latin typeface="Aptos Narrow" panose="020B0004020202020204" pitchFamily="34" charset="0"/>
              </a:rPr>
              <a:t>IMPLEMENTATION</a:t>
            </a:r>
          </a:p>
          <a:p>
            <a:r>
              <a:rPr lang="en-US" b="1" dirty="0">
                <a:latin typeface="Aptos Narrow" panose="020B0004020202020204" pitchFamily="34" charset="0"/>
              </a:rPr>
              <a:t>TESTING AND VALIDATION</a:t>
            </a:r>
          </a:p>
          <a:p>
            <a:r>
              <a:rPr lang="en-US" b="1" dirty="0">
                <a:latin typeface="Aptos Narrow" panose="020B0004020202020204" pitchFamily="34" charset="0"/>
              </a:rPr>
              <a:t>OUTPUT AND CONCLUSION</a:t>
            </a:r>
          </a:p>
          <a:p>
            <a:r>
              <a:rPr lang="en-US" b="1" dirty="0">
                <a:latin typeface="Aptos Narrow" panose="020B0004020202020204" pitchFamily="34" charset="0"/>
              </a:rPr>
              <a:t>REFERENCES</a:t>
            </a:r>
            <a:endParaRPr lang="en-IN" b="1" dirty="0">
              <a:latin typeface="Aptos Narrow" panose="020B0004020202020204" pitchFamily="34" charset="0"/>
            </a:endParaRPr>
          </a:p>
        </p:txBody>
      </p:sp>
    </p:spTree>
    <p:extLst>
      <p:ext uri="{BB962C8B-B14F-4D97-AF65-F5344CB8AC3E}">
        <p14:creationId xmlns:p14="http://schemas.microsoft.com/office/powerpoint/2010/main" val="25912309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D2748-98B7-2073-0DF9-310A5905EC6B}"/>
              </a:ext>
            </a:extLst>
          </p:cNvPr>
          <p:cNvSpPr>
            <a:spLocks noGrp="1"/>
          </p:cNvSpPr>
          <p:nvPr>
            <p:ph type="title"/>
          </p:nvPr>
        </p:nvSpPr>
        <p:spPr>
          <a:xfrm>
            <a:off x="252919" y="1123837"/>
            <a:ext cx="3151588" cy="4601183"/>
          </a:xfrm>
        </p:spPr>
        <p:txBody>
          <a:bodyPr>
            <a:normAutofit/>
          </a:bodyPr>
          <a:lstStyle/>
          <a:p>
            <a:r>
              <a:rPr lang="en-US" sz="3200" b="1" dirty="0">
                <a:solidFill>
                  <a:schemeClr val="tx1"/>
                </a:solidFill>
              </a:rPr>
              <a:t>INTRODUCTION</a:t>
            </a:r>
            <a:endParaRPr lang="en-IN" sz="3200" b="1" dirty="0">
              <a:solidFill>
                <a:schemeClr val="tx1"/>
              </a:solidFill>
            </a:endParaRPr>
          </a:p>
        </p:txBody>
      </p:sp>
      <p:sp>
        <p:nvSpPr>
          <p:cNvPr id="3" name="Content Placeholder 2">
            <a:extLst>
              <a:ext uri="{FF2B5EF4-FFF2-40B4-BE49-F238E27FC236}">
                <a16:creationId xmlns:a16="http://schemas.microsoft.com/office/drawing/2014/main" id="{8B7D0C68-73F6-2929-DC57-0654F7F45AD1}"/>
              </a:ext>
            </a:extLst>
          </p:cNvPr>
          <p:cNvSpPr>
            <a:spLocks noGrp="1"/>
          </p:cNvSpPr>
          <p:nvPr>
            <p:ph idx="1"/>
          </p:nvPr>
        </p:nvSpPr>
        <p:spPr>
          <a:xfrm>
            <a:off x="4427400" y="864108"/>
            <a:ext cx="6228747" cy="5120640"/>
          </a:xfrm>
        </p:spPr>
        <p:txBody>
          <a:bodyPr>
            <a:normAutofit/>
          </a:bodyPr>
          <a:lstStyle/>
          <a:p>
            <a:pPr lvl="0" algn="just"/>
            <a:r>
              <a:rPr lang="en-IN" sz="1800" dirty="0">
                <a:latin typeface="Times New Roman" panose="02020603050405020304" pitchFamily="18" charset="0"/>
                <a:cs typeface="Times New Roman" panose="02020603050405020304" pitchFamily="18" charset="0"/>
              </a:rPr>
              <a:t>Social media platforms contain a large amount of video-based information, but some videos may contain misleading or false information. </a:t>
            </a:r>
          </a:p>
          <a:p>
            <a:pPr lvl="0" algn="just"/>
            <a:r>
              <a:rPr lang="en-IN" sz="1800" dirty="0">
                <a:latin typeface="Times New Roman" panose="02020603050405020304" pitchFamily="18" charset="0"/>
                <a:cs typeface="Times New Roman" panose="02020603050405020304" pitchFamily="18" charset="0"/>
              </a:rPr>
              <a:t>Manually verifying the information in a video is time-consuming and requires checking multiple reliable sources. </a:t>
            </a:r>
          </a:p>
          <a:p>
            <a:pPr lvl="0" algn="just"/>
            <a:r>
              <a:rPr lang="en-IN" sz="1800" dirty="0">
                <a:latin typeface="Times New Roman" panose="02020603050405020304" pitchFamily="18" charset="0"/>
                <a:cs typeface="Times New Roman" panose="02020603050405020304" pitchFamily="18" charset="0"/>
              </a:rPr>
              <a:t>The proposed system automatically converts video speech into a complete transcript and extracts the important information from it. </a:t>
            </a:r>
          </a:p>
          <a:p>
            <a:pPr lvl="0" algn="just"/>
            <a:r>
              <a:rPr lang="en-IN" sz="1800" dirty="0">
                <a:latin typeface="Times New Roman" panose="02020603050405020304" pitchFamily="18" charset="0"/>
                <a:cs typeface="Times New Roman" panose="02020603050405020304" pitchFamily="18" charset="0"/>
              </a:rPr>
              <a:t>It then searches for related news about the overall video information and provides authenticity, risk, deepfake analysis, and a PDF verification report.</a:t>
            </a:r>
          </a:p>
        </p:txBody>
      </p:sp>
    </p:spTree>
    <p:extLst>
      <p:ext uri="{BB962C8B-B14F-4D97-AF65-F5344CB8AC3E}">
        <p14:creationId xmlns:p14="http://schemas.microsoft.com/office/powerpoint/2010/main" val="7310847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59581-339E-0ED9-2F0A-A190C34E6AFB}"/>
              </a:ext>
            </a:extLst>
          </p:cNvPr>
          <p:cNvSpPr>
            <a:spLocks noGrp="1"/>
          </p:cNvSpPr>
          <p:nvPr>
            <p:ph type="title"/>
          </p:nvPr>
        </p:nvSpPr>
        <p:spPr/>
        <p:txBody>
          <a:bodyPr>
            <a:normAutofit/>
          </a:bodyPr>
          <a:lstStyle/>
          <a:p>
            <a:r>
              <a:rPr lang="en-US" sz="3200" b="1" dirty="0">
                <a:solidFill>
                  <a:schemeClr val="tx1"/>
                </a:solidFill>
                <a:latin typeface="Aptos Narrow" panose="020B0004020202020204" pitchFamily="34" charset="0"/>
              </a:rPr>
              <a:t>EXISTING SYSTEM </a:t>
            </a:r>
            <a:br>
              <a:rPr lang="en-US" sz="3200" b="1" dirty="0">
                <a:solidFill>
                  <a:schemeClr val="tx1"/>
                </a:solidFill>
                <a:latin typeface="Aptos Narrow" panose="020B0004020202020204" pitchFamily="34" charset="0"/>
              </a:rPr>
            </a:br>
            <a:endParaRPr lang="en-IN" sz="3200" b="1" dirty="0">
              <a:solidFill>
                <a:schemeClr val="tx1"/>
              </a:solidFill>
              <a:latin typeface="Aptos Narrow" panose="020B0004020202020204" pitchFamily="34" charset="0"/>
            </a:endParaRPr>
          </a:p>
        </p:txBody>
      </p:sp>
      <p:sp>
        <p:nvSpPr>
          <p:cNvPr id="11" name="TextBox 10">
            <a:extLst>
              <a:ext uri="{FF2B5EF4-FFF2-40B4-BE49-F238E27FC236}">
                <a16:creationId xmlns:a16="http://schemas.microsoft.com/office/drawing/2014/main" id="{34F69EA2-AB2E-59DA-10B6-D566B72FC7D2}"/>
              </a:ext>
            </a:extLst>
          </p:cNvPr>
          <p:cNvSpPr txBox="1"/>
          <p:nvPr/>
        </p:nvSpPr>
        <p:spPr>
          <a:xfrm>
            <a:off x="3908879" y="775175"/>
            <a:ext cx="7380514" cy="5355312"/>
          </a:xfrm>
          <a:prstGeom prst="rect">
            <a:avLst/>
          </a:prstGeom>
          <a:noFill/>
        </p:spPr>
        <p:txBody>
          <a:bodyPr wrap="square">
            <a:spAutoFit/>
          </a:bodyPr>
          <a:lstStyle/>
          <a:p>
            <a:pPr marL="342900" indent="-342900" algn="just">
              <a:buAutoNum type="arabicPeriod"/>
            </a:pPr>
            <a:r>
              <a:rPr lang="en-IN" b="1" dirty="0">
                <a:latin typeface="Times New Roman" panose="02020603050405020304" pitchFamily="18" charset="0"/>
                <a:cs typeface="Times New Roman" panose="02020603050405020304" pitchFamily="18" charset="0"/>
              </a:rPr>
              <a:t>Manual Verification</a:t>
            </a:r>
          </a:p>
          <a:p>
            <a:pPr algn="just"/>
            <a:r>
              <a:rPr lang="en-IN" dirty="0">
                <a:latin typeface="Times New Roman" panose="02020603050405020304" pitchFamily="18" charset="0"/>
                <a:cs typeface="Times New Roman" panose="02020603050405020304" pitchFamily="18" charset="0"/>
              </a:rPr>
              <a:t>Users must watch the video, identify important information, and manually verify it using different sources.</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2. Text-Based Fact Checking</a:t>
            </a:r>
          </a:p>
          <a:p>
            <a:pPr algn="just"/>
            <a:r>
              <a:rPr lang="en-IN" dirty="0">
                <a:latin typeface="Times New Roman" panose="02020603050405020304" pitchFamily="18" charset="0"/>
                <a:cs typeface="Times New Roman" panose="02020603050405020304" pitchFamily="18" charset="0"/>
              </a:rPr>
              <a:t>Many existing systems mainly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text-based claims rather than directly processing complete video content.</a:t>
            </a:r>
          </a:p>
          <a:p>
            <a:pPr algn="just"/>
            <a:endParaRPr lang="en-IN" b="1"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3. Multiple Verification Sources</a:t>
            </a:r>
          </a:p>
          <a:p>
            <a:pPr algn="just"/>
            <a:r>
              <a:rPr lang="en-IN" dirty="0">
                <a:latin typeface="Times New Roman" panose="02020603050405020304" pitchFamily="18" charset="0"/>
                <a:cs typeface="Times New Roman" panose="02020603050405020304" pitchFamily="18" charset="0"/>
              </a:rPr>
              <a:t>Users often need to search different websites and news platforms separately to determine whether the information is reliable.</a:t>
            </a:r>
          </a:p>
          <a:p>
            <a:pPr algn="just"/>
            <a:endParaRPr lang="en-IN" b="1"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4. Limited Video Analysis</a:t>
            </a:r>
          </a:p>
          <a:p>
            <a:pPr algn="just"/>
            <a:r>
              <a:rPr lang="en-IN" dirty="0">
                <a:latin typeface="Times New Roman" panose="02020603050405020304" pitchFamily="18" charset="0"/>
                <a:cs typeface="Times New Roman" panose="02020603050405020304" pitchFamily="18" charset="0"/>
              </a:rPr>
              <a:t>Existing solutions may not combine transcription, information extraction, news verification, and deepfake detection in a single system.</a:t>
            </a:r>
          </a:p>
          <a:p>
            <a:pPr algn="just"/>
            <a:endParaRPr lang="en-IN" b="1"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5. Lack of Integrated Reports</a:t>
            </a:r>
          </a:p>
          <a:p>
            <a:pPr algn="just"/>
            <a:r>
              <a:rPr lang="en-IN" dirty="0">
                <a:latin typeface="Times New Roman" panose="02020603050405020304" pitchFamily="18" charset="0"/>
                <a:cs typeface="Times New Roman" panose="02020603050405020304" pitchFamily="18" charset="0"/>
              </a:rPr>
              <a:t>Many systems do not provide a single structured PDF report containing the transcript, highlights, supporting articles, and analysis results.</a:t>
            </a:r>
          </a:p>
        </p:txBody>
      </p:sp>
    </p:spTree>
    <p:extLst>
      <p:ext uri="{BB962C8B-B14F-4D97-AF65-F5344CB8AC3E}">
        <p14:creationId xmlns:p14="http://schemas.microsoft.com/office/powerpoint/2010/main" val="4009312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4FAC1-A6DD-D2FB-B1D6-DA1DF62BBA74}"/>
              </a:ext>
            </a:extLst>
          </p:cNvPr>
          <p:cNvSpPr>
            <a:spLocks noGrp="1"/>
          </p:cNvSpPr>
          <p:nvPr>
            <p:ph type="title"/>
          </p:nvPr>
        </p:nvSpPr>
        <p:spPr/>
        <p:txBody>
          <a:bodyPr>
            <a:normAutofit/>
          </a:bodyPr>
          <a:lstStyle/>
          <a:p>
            <a:r>
              <a:rPr lang="en-US" sz="3200" b="1" dirty="0">
                <a:solidFill>
                  <a:schemeClr val="tx1"/>
                </a:solidFill>
                <a:latin typeface="Aptos Narrow" panose="020B0004020202020204" pitchFamily="34" charset="0"/>
              </a:rPr>
              <a:t>PROPOSED SYSTEM</a:t>
            </a:r>
            <a:br>
              <a:rPr lang="en-US" sz="3200" b="1" dirty="0">
                <a:solidFill>
                  <a:schemeClr val="tx1"/>
                </a:solidFill>
                <a:latin typeface="Aptos Narrow" panose="020B0004020202020204" pitchFamily="34" charset="0"/>
              </a:rPr>
            </a:br>
            <a:endParaRPr lang="en-IN" sz="3200" b="1" dirty="0">
              <a:solidFill>
                <a:schemeClr val="tx1"/>
              </a:solidFill>
              <a:latin typeface="Aptos Narrow" panose="020B0004020202020204" pitchFamily="34" charset="0"/>
            </a:endParaRPr>
          </a:p>
        </p:txBody>
      </p:sp>
      <p:sp>
        <p:nvSpPr>
          <p:cNvPr id="3" name="Content Placeholder 2">
            <a:extLst>
              <a:ext uri="{FF2B5EF4-FFF2-40B4-BE49-F238E27FC236}">
                <a16:creationId xmlns:a16="http://schemas.microsoft.com/office/drawing/2014/main" id="{C1B24447-3E74-45AA-3C6C-FE2569A1FD64}"/>
              </a:ext>
            </a:extLst>
          </p:cNvPr>
          <p:cNvSpPr>
            <a:spLocks noGrp="1"/>
          </p:cNvSpPr>
          <p:nvPr>
            <p:ph idx="1"/>
          </p:nvPr>
        </p:nvSpPr>
        <p:spPr/>
        <p:txBody>
          <a:bodyPr>
            <a:normAutofit/>
          </a:bodyPr>
          <a:lstStyle/>
          <a:p>
            <a:pPr algn="just"/>
            <a:r>
              <a:rPr lang="en-IN" sz="1800" dirty="0">
                <a:latin typeface="Times New Roman" panose="02020603050405020304" pitchFamily="18" charset="0"/>
                <a:cs typeface="Times New Roman" panose="02020603050405020304" pitchFamily="18" charset="0"/>
              </a:rPr>
              <a:t>The proposed system is an AI-based Video Fact Checker that automatically </a:t>
            </a:r>
            <a:r>
              <a:rPr lang="en-IN" sz="1800" dirty="0" err="1">
                <a:latin typeface="Times New Roman" panose="02020603050405020304" pitchFamily="18" charset="0"/>
                <a:cs typeface="Times New Roman" panose="02020603050405020304" pitchFamily="18" charset="0"/>
              </a:rPr>
              <a:t>analyzes</a:t>
            </a:r>
            <a:r>
              <a:rPr lang="en-IN" sz="1800" dirty="0">
                <a:latin typeface="Times New Roman" panose="02020603050405020304" pitchFamily="18" charset="0"/>
                <a:cs typeface="Times New Roman" panose="02020603050405020304" pitchFamily="18" charset="0"/>
              </a:rPr>
              <a:t> uploaded videos and verifies the information presented in them. The system extracts audio from the video and uses Whisper to generate a complete transcript. NLP techniques are then used to identify the important information or highlights from the transcript. Based on the overall information in the video, the system searches for related news articles from external sources. It also provides authenticity and risk analysis, supports deepfake detection, generates a PDF verification report, and stores the analysis results in an SQLite database for future reference.</a:t>
            </a:r>
          </a:p>
        </p:txBody>
      </p:sp>
    </p:spTree>
    <p:extLst>
      <p:ext uri="{BB962C8B-B14F-4D97-AF65-F5344CB8AC3E}">
        <p14:creationId xmlns:p14="http://schemas.microsoft.com/office/powerpoint/2010/main" val="1238282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37274-A254-5147-E7A8-939AFAFD1A70}"/>
              </a:ext>
            </a:extLst>
          </p:cNvPr>
          <p:cNvSpPr>
            <a:spLocks noGrp="1"/>
          </p:cNvSpPr>
          <p:nvPr>
            <p:ph type="title"/>
          </p:nvPr>
        </p:nvSpPr>
        <p:spPr/>
        <p:txBody>
          <a:bodyPr>
            <a:normAutofit/>
          </a:bodyPr>
          <a:lstStyle/>
          <a:p>
            <a:r>
              <a:rPr lang="en-US" sz="3200" b="1" dirty="0">
                <a:solidFill>
                  <a:schemeClr val="tx1"/>
                </a:solidFill>
              </a:rPr>
              <a:t>FEATURES ADDED</a:t>
            </a:r>
            <a:endParaRPr lang="en-IN" sz="3200" b="1" dirty="0">
              <a:solidFill>
                <a:schemeClr val="tx1"/>
              </a:solidFill>
            </a:endParaRPr>
          </a:p>
        </p:txBody>
      </p:sp>
      <p:sp>
        <p:nvSpPr>
          <p:cNvPr id="3" name="Content Placeholder 2">
            <a:extLst>
              <a:ext uri="{FF2B5EF4-FFF2-40B4-BE49-F238E27FC236}">
                <a16:creationId xmlns:a16="http://schemas.microsoft.com/office/drawing/2014/main" id="{B2C82302-36DD-B259-2603-26A217FF7863}"/>
              </a:ext>
            </a:extLst>
          </p:cNvPr>
          <p:cNvSpPr>
            <a:spLocks noGrp="1"/>
          </p:cNvSpPr>
          <p:nvPr>
            <p:ph idx="1"/>
          </p:nvPr>
        </p:nvSpPr>
        <p:spPr>
          <a:xfrm>
            <a:off x="4988379" y="864108"/>
            <a:ext cx="6196088" cy="5120640"/>
          </a:xfrm>
        </p:spPr>
        <p:txBody>
          <a:bodyPr>
            <a:normAutofit/>
          </a:bodyPr>
          <a:lstStyle/>
          <a:p>
            <a:pPr lvl="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Video Upload &amp; Preview </a:t>
            </a:r>
          </a:p>
          <a:p>
            <a:pPr lvl="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Complete Speech-to-Text Transcript </a:t>
            </a:r>
          </a:p>
          <a:p>
            <a:pPr lvl="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Important Information Highlights </a:t>
            </a:r>
          </a:p>
          <a:p>
            <a:pPr lvl="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Overall Video-Related News Search </a:t>
            </a:r>
          </a:p>
          <a:p>
            <a:pPr lvl="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Authenticity &amp; Risk Analysis </a:t>
            </a:r>
          </a:p>
          <a:p>
            <a:pPr lvl="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Deepfake Detection </a:t>
            </a:r>
          </a:p>
          <a:p>
            <a:pPr lvl="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PDF Report Generation </a:t>
            </a:r>
          </a:p>
          <a:p>
            <a:pPr lvl="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SQLite Database Storage</a:t>
            </a:r>
          </a:p>
        </p:txBody>
      </p:sp>
    </p:spTree>
    <p:extLst>
      <p:ext uri="{BB962C8B-B14F-4D97-AF65-F5344CB8AC3E}">
        <p14:creationId xmlns:p14="http://schemas.microsoft.com/office/powerpoint/2010/main" val="1290278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0E72C-3DF9-0289-E161-35F61A40EEFB}"/>
              </a:ext>
            </a:extLst>
          </p:cNvPr>
          <p:cNvSpPr>
            <a:spLocks noGrp="1"/>
          </p:cNvSpPr>
          <p:nvPr>
            <p:ph type="title"/>
          </p:nvPr>
        </p:nvSpPr>
        <p:spPr/>
        <p:txBody>
          <a:bodyPr>
            <a:normAutofit/>
          </a:bodyPr>
          <a:lstStyle/>
          <a:p>
            <a:r>
              <a:rPr lang="en-US" sz="3200" b="1" dirty="0">
                <a:solidFill>
                  <a:schemeClr val="tx1"/>
                </a:solidFill>
                <a:latin typeface="Aptos Narrow" panose="020B0004020202020204" pitchFamily="34" charset="0"/>
              </a:rPr>
              <a:t>TECHNOLOGIES USED</a:t>
            </a:r>
            <a:endParaRPr lang="en-IN" sz="3200" b="1" dirty="0">
              <a:solidFill>
                <a:schemeClr val="tx1"/>
              </a:solidFill>
              <a:latin typeface="Aptos Narrow" panose="020B0004020202020204" pitchFamily="34" charset="0"/>
            </a:endParaRPr>
          </a:p>
        </p:txBody>
      </p:sp>
      <p:sp>
        <p:nvSpPr>
          <p:cNvPr id="3" name="Content Placeholder 2">
            <a:extLst>
              <a:ext uri="{FF2B5EF4-FFF2-40B4-BE49-F238E27FC236}">
                <a16:creationId xmlns:a16="http://schemas.microsoft.com/office/drawing/2014/main" id="{D1ABFAC4-DD9C-0FCA-44FF-7B0D4528C55D}"/>
              </a:ext>
            </a:extLst>
          </p:cNvPr>
          <p:cNvSpPr>
            <a:spLocks noGrp="1"/>
          </p:cNvSpPr>
          <p:nvPr>
            <p:ph idx="1"/>
          </p:nvPr>
        </p:nvSpPr>
        <p:spPr>
          <a:xfrm>
            <a:off x="4622800" y="721323"/>
            <a:ext cx="6461760" cy="5406209"/>
          </a:xfrm>
        </p:spPr>
        <p:txBody>
          <a:bodyPr>
            <a:normAutofit fontScale="77500" lnSpcReduction="20000"/>
          </a:bodyPr>
          <a:lstStyle/>
          <a:p>
            <a:pPr marL="0" indent="0" algn="just">
              <a:buNone/>
            </a:pPr>
            <a:r>
              <a:rPr lang="en-IN" sz="2400" b="1" dirty="0">
                <a:solidFill>
                  <a:schemeClr val="tx1"/>
                </a:solidFill>
                <a:latin typeface="Times New Roman" panose="02020603050405020304" pitchFamily="18" charset="0"/>
                <a:cs typeface="Times New Roman" panose="02020603050405020304" pitchFamily="18" charset="0"/>
              </a:rPr>
              <a:t>Software Requirements :</a:t>
            </a:r>
          </a:p>
          <a:p>
            <a:pPr marL="0" indent="0">
              <a:buNone/>
            </a:pPr>
            <a:r>
              <a:rPr lang="en-IN" sz="2300" b="1" dirty="0">
                <a:latin typeface="Times New Roman" panose="02020603050405020304" pitchFamily="18" charset="0"/>
                <a:cs typeface="Times New Roman" panose="02020603050405020304" pitchFamily="18" charset="0"/>
              </a:rPr>
              <a:t>Programming Language &amp; Libraries:</a:t>
            </a:r>
          </a:p>
          <a:p>
            <a:pPr lvl="0"/>
            <a:r>
              <a:rPr lang="en-IN" sz="2300" b="1" dirty="0">
                <a:latin typeface="Times New Roman" panose="02020603050405020304" pitchFamily="18" charset="0"/>
                <a:cs typeface="Times New Roman" panose="02020603050405020304" pitchFamily="18" charset="0"/>
              </a:rPr>
              <a:t>Python</a:t>
            </a:r>
            <a:r>
              <a:rPr lang="en-IN" sz="2300" dirty="0">
                <a:latin typeface="Times New Roman" panose="02020603050405020304" pitchFamily="18" charset="0"/>
                <a:cs typeface="Times New Roman" panose="02020603050405020304" pitchFamily="18" charset="0"/>
              </a:rPr>
              <a:t> </a:t>
            </a:r>
          </a:p>
          <a:p>
            <a:pPr lvl="0"/>
            <a:r>
              <a:rPr lang="en-IN" sz="2300" b="1" dirty="0">
                <a:latin typeface="Times New Roman" panose="02020603050405020304" pitchFamily="18" charset="0"/>
                <a:cs typeface="Times New Roman" panose="02020603050405020304" pitchFamily="18" charset="0"/>
              </a:rPr>
              <a:t>Flask</a:t>
            </a:r>
            <a:r>
              <a:rPr lang="en-IN" sz="2300" dirty="0">
                <a:latin typeface="Times New Roman" panose="02020603050405020304" pitchFamily="18" charset="0"/>
                <a:cs typeface="Times New Roman" panose="02020603050405020304" pitchFamily="18" charset="0"/>
              </a:rPr>
              <a:t> – Backend API </a:t>
            </a:r>
          </a:p>
          <a:p>
            <a:pPr lvl="0"/>
            <a:r>
              <a:rPr lang="en-IN" sz="2300" b="1" dirty="0">
                <a:latin typeface="Times New Roman" panose="02020603050405020304" pitchFamily="18" charset="0"/>
                <a:cs typeface="Times New Roman" panose="02020603050405020304" pitchFamily="18" charset="0"/>
              </a:rPr>
              <a:t>React &amp; Vite</a:t>
            </a:r>
            <a:r>
              <a:rPr lang="en-IN" sz="2300" dirty="0">
                <a:latin typeface="Times New Roman" panose="02020603050405020304" pitchFamily="18" charset="0"/>
                <a:cs typeface="Times New Roman" panose="02020603050405020304" pitchFamily="18" charset="0"/>
              </a:rPr>
              <a:t> – Frontend development </a:t>
            </a:r>
          </a:p>
          <a:p>
            <a:pPr lvl="0"/>
            <a:r>
              <a:rPr lang="en-IN" sz="2300" b="1" dirty="0">
                <a:latin typeface="Times New Roman" panose="02020603050405020304" pitchFamily="18" charset="0"/>
                <a:cs typeface="Times New Roman" panose="02020603050405020304" pitchFamily="18" charset="0"/>
              </a:rPr>
              <a:t>Whisper</a:t>
            </a:r>
            <a:r>
              <a:rPr lang="en-IN" sz="2300" dirty="0">
                <a:latin typeface="Times New Roman" panose="02020603050405020304" pitchFamily="18" charset="0"/>
                <a:cs typeface="Times New Roman" panose="02020603050405020304" pitchFamily="18" charset="0"/>
              </a:rPr>
              <a:t> – Speech-to-text transcription </a:t>
            </a:r>
          </a:p>
          <a:p>
            <a:pPr lvl="0"/>
            <a:r>
              <a:rPr lang="en-IN" sz="2300" b="1" dirty="0" err="1">
                <a:latin typeface="Times New Roman" panose="02020603050405020304" pitchFamily="18" charset="0"/>
                <a:cs typeface="Times New Roman" panose="02020603050405020304" pitchFamily="18" charset="0"/>
              </a:rPr>
              <a:t>spaCy</a:t>
            </a:r>
            <a:r>
              <a:rPr lang="en-IN" sz="2300" dirty="0">
                <a:latin typeface="Times New Roman" panose="02020603050405020304" pitchFamily="18" charset="0"/>
                <a:cs typeface="Times New Roman" panose="02020603050405020304" pitchFamily="18" charset="0"/>
              </a:rPr>
              <a:t> – NLP and information extraction </a:t>
            </a:r>
          </a:p>
          <a:p>
            <a:pPr lvl="0"/>
            <a:r>
              <a:rPr lang="en-IN" sz="2300" b="1" dirty="0" err="1">
                <a:latin typeface="Times New Roman" panose="02020603050405020304" pitchFamily="18" charset="0"/>
                <a:cs typeface="Times New Roman" panose="02020603050405020304" pitchFamily="18" charset="0"/>
              </a:rPr>
              <a:t>MoviePy</a:t>
            </a:r>
            <a:r>
              <a:rPr lang="en-IN" sz="2300" b="1" dirty="0">
                <a:latin typeface="Times New Roman" panose="02020603050405020304" pitchFamily="18" charset="0"/>
                <a:cs typeface="Times New Roman" panose="02020603050405020304" pitchFamily="18" charset="0"/>
              </a:rPr>
              <a:t> </a:t>
            </a:r>
            <a:r>
              <a:rPr lang="en-IN" sz="2300" dirty="0">
                <a:latin typeface="Times New Roman" panose="02020603050405020304" pitchFamily="18" charset="0"/>
                <a:cs typeface="Times New Roman" panose="02020603050405020304" pitchFamily="18" charset="0"/>
              </a:rPr>
              <a:t> – Audio extraction </a:t>
            </a:r>
          </a:p>
          <a:p>
            <a:pPr lvl="0"/>
            <a:r>
              <a:rPr lang="en-IN" sz="2300" b="1" dirty="0">
                <a:latin typeface="Times New Roman" panose="02020603050405020304" pitchFamily="18" charset="0"/>
                <a:cs typeface="Times New Roman" panose="02020603050405020304" pitchFamily="18" charset="0"/>
              </a:rPr>
              <a:t>OpenCV </a:t>
            </a:r>
            <a:r>
              <a:rPr lang="en-IN" sz="2300" dirty="0">
                <a:latin typeface="Times New Roman" panose="02020603050405020304" pitchFamily="18" charset="0"/>
                <a:cs typeface="Times New Roman" panose="02020603050405020304" pitchFamily="18" charset="0"/>
              </a:rPr>
              <a:t> – Video and deepfake analysis </a:t>
            </a:r>
          </a:p>
          <a:p>
            <a:pPr lvl="0"/>
            <a:r>
              <a:rPr lang="en-IN" sz="2300" b="1" dirty="0">
                <a:latin typeface="Times New Roman" panose="02020603050405020304" pitchFamily="18" charset="0"/>
                <a:cs typeface="Times New Roman" panose="02020603050405020304" pitchFamily="18" charset="0"/>
              </a:rPr>
              <a:t>Axios</a:t>
            </a:r>
            <a:r>
              <a:rPr lang="en-IN" sz="2300" dirty="0">
                <a:latin typeface="Times New Roman" panose="02020603050405020304" pitchFamily="18" charset="0"/>
                <a:cs typeface="Times New Roman" panose="02020603050405020304" pitchFamily="18" charset="0"/>
              </a:rPr>
              <a:t> – API communication </a:t>
            </a:r>
          </a:p>
          <a:p>
            <a:pPr lvl="0"/>
            <a:r>
              <a:rPr lang="en-IN" sz="2300" b="1" dirty="0" err="1">
                <a:latin typeface="Times New Roman" panose="02020603050405020304" pitchFamily="18" charset="0"/>
                <a:cs typeface="Times New Roman" panose="02020603050405020304" pitchFamily="18" charset="0"/>
              </a:rPr>
              <a:t>ReportLab</a:t>
            </a:r>
            <a:r>
              <a:rPr lang="en-IN" sz="2300" dirty="0">
                <a:latin typeface="Times New Roman" panose="02020603050405020304" pitchFamily="18" charset="0"/>
                <a:cs typeface="Times New Roman" panose="02020603050405020304" pitchFamily="18" charset="0"/>
              </a:rPr>
              <a:t> – PDF report generation </a:t>
            </a:r>
          </a:p>
          <a:p>
            <a:pPr marL="0" indent="0">
              <a:buNone/>
            </a:pPr>
            <a:r>
              <a:rPr lang="en-IN" sz="2300" b="1" dirty="0">
                <a:latin typeface="Times New Roman" panose="02020603050405020304" pitchFamily="18" charset="0"/>
                <a:cs typeface="Times New Roman" panose="02020603050405020304" pitchFamily="18" charset="0"/>
              </a:rPr>
              <a:t>AI Tools:</a:t>
            </a:r>
          </a:p>
          <a:p>
            <a:pPr lvl="0"/>
            <a:r>
              <a:rPr lang="en-IN" sz="2300" b="1" dirty="0">
                <a:latin typeface="Times New Roman" panose="02020603050405020304" pitchFamily="18" charset="0"/>
                <a:cs typeface="Times New Roman" panose="02020603050405020304" pitchFamily="18" charset="0"/>
              </a:rPr>
              <a:t>OpenAI Whisper</a:t>
            </a:r>
            <a:r>
              <a:rPr lang="en-IN" sz="2300" dirty="0">
                <a:latin typeface="Times New Roman" panose="02020603050405020304" pitchFamily="18" charset="0"/>
                <a:cs typeface="Times New Roman" panose="02020603050405020304" pitchFamily="18" charset="0"/>
              </a:rPr>
              <a:t> – Automatic speech recognition </a:t>
            </a:r>
          </a:p>
          <a:p>
            <a:pPr lvl="0"/>
            <a:r>
              <a:rPr lang="en-IN" sz="2300" b="1" dirty="0">
                <a:latin typeface="Times New Roman" panose="02020603050405020304" pitchFamily="18" charset="0"/>
                <a:cs typeface="Times New Roman" panose="02020603050405020304" pitchFamily="18" charset="0"/>
              </a:rPr>
              <a:t>NLP Models</a:t>
            </a:r>
            <a:r>
              <a:rPr lang="en-IN" sz="2300" dirty="0">
                <a:latin typeface="Times New Roman" panose="02020603050405020304" pitchFamily="18" charset="0"/>
                <a:cs typeface="Times New Roman" panose="02020603050405020304" pitchFamily="18" charset="0"/>
              </a:rPr>
              <a:t> – Information/highlight extraction </a:t>
            </a:r>
          </a:p>
          <a:p>
            <a:pPr lvl="0"/>
            <a:r>
              <a:rPr lang="en-IN" sz="2300" b="1" dirty="0">
                <a:latin typeface="Times New Roman" panose="02020603050405020304" pitchFamily="18" charset="0"/>
                <a:cs typeface="Times New Roman" panose="02020603050405020304" pitchFamily="18" charset="0"/>
              </a:rPr>
              <a:t>Deepfake Detection Model</a:t>
            </a:r>
            <a:r>
              <a:rPr lang="en-IN" sz="2300" dirty="0">
                <a:latin typeface="Times New Roman" panose="02020603050405020304" pitchFamily="18" charset="0"/>
                <a:cs typeface="Times New Roman" panose="02020603050405020304" pitchFamily="18" charset="0"/>
              </a:rPr>
              <a:t> – Video manipulation analysis </a:t>
            </a:r>
          </a:p>
          <a:p>
            <a:endParaRPr lang="en-IN" dirty="0"/>
          </a:p>
        </p:txBody>
      </p:sp>
    </p:spTree>
    <p:extLst>
      <p:ext uri="{BB962C8B-B14F-4D97-AF65-F5344CB8AC3E}">
        <p14:creationId xmlns:p14="http://schemas.microsoft.com/office/powerpoint/2010/main" val="37149837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6EDD1-45F9-DEC9-7896-8A4C3A6C1CD0}"/>
              </a:ext>
            </a:extLst>
          </p:cNvPr>
          <p:cNvSpPr>
            <a:spLocks noGrp="1"/>
          </p:cNvSpPr>
          <p:nvPr>
            <p:ph type="title"/>
          </p:nvPr>
        </p:nvSpPr>
        <p:spPr/>
        <p:txBody>
          <a:bodyPr>
            <a:normAutofit/>
          </a:bodyPr>
          <a:lstStyle/>
          <a:p>
            <a:r>
              <a:rPr lang="en-US" sz="3200" b="1" dirty="0">
                <a:solidFill>
                  <a:schemeClr val="tx1"/>
                </a:solidFill>
                <a:latin typeface="Aptos Narrow" panose="020B0004020202020204" pitchFamily="34" charset="0"/>
              </a:rPr>
              <a:t>TECHNOLOGIES USED</a:t>
            </a:r>
            <a:endParaRPr lang="en-IN" sz="3200" b="1" dirty="0">
              <a:solidFill>
                <a:schemeClr val="tx1"/>
              </a:solidFill>
              <a:latin typeface="Aptos Narrow" panose="020B0004020202020204" pitchFamily="34" charset="0"/>
            </a:endParaRPr>
          </a:p>
        </p:txBody>
      </p:sp>
      <p:sp>
        <p:nvSpPr>
          <p:cNvPr id="3" name="Content Placeholder 2">
            <a:extLst>
              <a:ext uri="{FF2B5EF4-FFF2-40B4-BE49-F238E27FC236}">
                <a16:creationId xmlns:a16="http://schemas.microsoft.com/office/drawing/2014/main" id="{50D7980E-B25E-61BF-28A2-3E659735B12E}"/>
              </a:ext>
            </a:extLst>
          </p:cNvPr>
          <p:cNvSpPr>
            <a:spLocks noGrp="1"/>
          </p:cNvSpPr>
          <p:nvPr>
            <p:ph idx="1"/>
          </p:nvPr>
        </p:nvSpPr>
        <p:spPr>
          <a:xfrm>
            <a:off x="4729299" y="864108"/>
            <a:ext cx="5967488" cy="5120640"/>
          </a:xfrm>
        </p:spPr>
        <p:txBody>
          <a:bodyPr>
            <a:normAutofit fontScale="92500" lnSpcReduction="10000"/>
          </a:bodyPr>
          <a:lstStyle/>
          <a:p>
            <a:pPr marL="0" indent="0" algn="just">
              <a:buNone/>
            </a:pPr>
            <a:r>
              <a:rPr lang="en-IN" sz="2400" b="1" dirty="0">
                <a:solidFill>
                  <a:schemeClr val="tx1"/>
                </a:solidFill>
                <a:latin typeface="Aptos Narrow" panose="020B0004020202020204" pitchFamily="34" charset="0"/>
              </a:rPr>
              <a:t>Hardware Requirements:</a:t>
            </a:r>
          </a:p>
          <a:p>
            <a:pPr marL="0" indent="0">
              <a:buNone/>
            </a:pPr>
            <a:r>
              <a:rPr lang="en-IN" sz="1900" b="1" dirty="0">
                <a:latin typeface="Times New Roman" panose="02020603050405020304" pitchFamily="18" charset="0"/>
                <a:cs typeface="Times New Roman" panose="02020603050405020304" pitchFamily="18" charset="0"/>
              </a:rPr>
              <a:t>Processor:</a:t>
            </a:r>
          </a:p>
          <a:p>
            <a:pPr lvl="0"/>
            <a:r>
              <a:rPr lang="en-IN" sz="1900" dirty="0">
                <a:latin typeface="Times New Roman" panose="02020603050405020304" pitchFamily="18" charset="0"/>
                <a:cs typeface="Times New Roman" panose="02020603050405020304" pitchFamily="18" charset="0"/>
              </a:rPr>
              <a:t>Intel Core i5 or equivalent processor </a:t>
            </a:r>
          </a:p>
          <a:p>
            <a:pPr lvl="0"/>
            <a:r>
              <a:rPr lang="en-IN" sz="1900" dirty="0">
                <a:latin typeface="Times New Roman" panose="02020603050405020304" pitchFamily="18" charset="0"/>
                <a:cs typeface="Times New Roman" panose="02020603050405020304" pitchFamily="18" charset="0"/>
              </a:rPr>
              <a:t>2.0 GHz or higher </a:t>
            </a:r>
          </a:p>
          <a:p>
            <a:pPr marL="0" indent="0">
              <a:buNone/>
            </a:pPr>
            <a:r>
              <a:rPr lang="en-IN" sz="1900" b="1" dirty="0">
                <a:latin typeface="Times New Roman" panose="02020603050405020304" pitchFamily="18" charset="0"/>
                <a:cs typeface="Times New Roman" panose="02020603050405020304" pitchFamily="18" charset="0"/>
              </a:rPr>
              <a:t>RAM:</a:t>
            </a:r>
          </a:p>
          <a:p>
            <a:pPr lvl="0"/>
            <a:r>
              <a:rPr lang="en-IN" sz="1900" dirty="0">
                <a:latin typeface="Times New Roman" panose="02020603050405020304" pitchFamily="18" charset="0"/>
                <a:cs typeface="Times New Roman" panose="02020603050405020304" pitchFamily="18" charset="0"/>
              </a:rPr>
              <a:t>Minimum </a:t>
            </a:r>
            <a:r>
              <a:rPr lang="en-IN" sz="1900" b="1" dirty="0">
                <a:latin typeface="Times New Roman" panose="02020603050405020304" pitchFamily="18" charset="0"/>
                <a:cs typeface="Times New Roman" panose="02020603050405020304" pitchFamily="18" charset="0"/>
              </a:rPr>
              <a:t>8 GB</a:t>
            </a:r>
            <a:r>
              <a:rPr lang="en-IN" sz="1900" dirty="0">
                <a:latin typeface="Times New Roman" panose="02020603050405020304" pitchFamily="18" charset="0"/>
                <a:cs typeface="Times New Roman" panose="02020603050405020304" pitchFamily="18" charset="0"/>
              </a:rPr>
              <a:t> </a:t>
            </a:r>
          </a:p>
          <a:p>
            <a:pPr lvl="0"/>
            <a:r>
              <a:rPr lang="en-IN" sz="1900" dirty="0">
                <a:latin typeface="Times New Roman" panose="02020603050405020304" pitchFamily="18" charset="0"/>
                <a:cs typeface="Times New Roman" panose="02020603050405020304" pitchFamily="18" charset="0"/>
              </a:rPr>
              <a:t>Recommended </a:t>
            </a:r>
            <a:r>
              <a:rPr lang="en-IN" sz="1900" b="1" dirty="0">
                <a:latin typeface="Times New Roman" panose="02020603050405020304" pitchFamily="18" charset="0"/>
                <a:cs typeface="Times New Roman" panose="02020603050405020304" pitchFamily="18" charset="0"/>
              </a:rPr>
              <a:t>16 GB</a:t>
            </a:r>
            <a:r>
              <a:rPr lang="en-IN" sz="1900" dirty="0">
                <a:latin typeface="Times New Roman" panose="02020603050405020304" pitchFamily="18" charset="0"/>
                <a:cs typeface="Times New Roman" panose="02020603050405020304" pitchFamily="18" charset="0"/>
              </a:rPr>
              <a:t> for AI/video processing </a:t>
            </a:r>
          </a:p>
          <a:p>
            <a:pPr marL="0" indent="0">
              <a:buNone/>
            </a:pPr>
            <a:r>
              <a:rPr lang="en-IN" sz="1900" b="1" dirty="0">
                <a:latin typeface="Times New Roman" panose="02020603050405020304" pitchFamily="18" charset="0"/>
                <a:cs typeface="Times New Roman" panose="02020603050405020304" pitchFamily="18" charset="0"/>
              </a:rPr>
              <a:t>Storage:</a:t>
            </a:r>
          </a:p>
          <a:p>
            <a:pPr lvl="0"/>
            <a:r>
              <a:rPr lang="en-IN" sz="1900" dirty="0">
                <a:latin typeface="Times New Roman" panose="02020603050405020304" pitchFamily="18" charset="0"/>
                <a:cs typeface="Times New Roman" panose="02020603050405020304" pitchFamily="18" charset="0"/>
              </a:rPr>
              <a:t>Minimum </a:t>
            </a:r>
            <a:r>
              <a:rPr lang="en-IN" sz="1900" b="1" dirty="0">
                <a:latin typeface="Times New Roman" panose="02020603050405020304" pitchFamily="18" charset="0"/>
                <a:cs typeface="Times New Roman" panose="02020603050405020304" pitchFamily="18" charset="0"/>
              </a:rPr>
              <a:t>10 GB</a:t>
            </a:r>
            <a:r>
              <a:rPr lang="en-IN" sz="1900" dirty="0">
                <a:latin typeface="Times New Roman" panose="02020603050405020304" pitchFamily="18" charset="0"/>
                <a:cs typeface="Times New Roman" panose="02020603050405020304" pitchFamily="18" charset="0"/>
              </a:rPr>
              <a:t> free space </a:t>
            </a:r>
          </a:p>
          <a:p>
            <a:pPr lvl="0"/>
            <a:r>
              <a:rPr lang="en-IN" sz="1900" dirty="0">
                <a:latin typeface="Times New Roman" panose="02020603050405020304" pitchFamily="18" charset="0"/>
                <a:cs typeface="Times New Roman" panose="02020603050405020304" pitchFamily="18" charset="0"/>
              </a:rPr>
              <a:t>SSD recommended for faster processing </a:t>
            </a:r>
          </a:p>
          <a:p>
            <a:pPr marL="0" indent="0">
              <a:buNone/>
            </a:pPr>
            <a:r>
              <a:rPr lang="en-IN" sz="1900" b="1" dirty="0">
                <a:latin typeface="Times New Roman" panose="02020603050405020304" pitchFamily="18" charset="0"/>
                <a:cs typeface="Times New Roman" panose="02020603050405020304" pitchFamily="18" charset="0"/>
              </a:rPr>
              <a:t>Graphics:</a:t>
            </a:r>
          </a:p>
          <a:p>
            <a:pPr lvl="0"/>
            <a:r>
              <a:rPr lang="en-IN" sz="1900" dirty="0">
                <a:latin typeface="Times New Roman" panose="02020603050405020304" pitchFamily="18" charset="0"/>
                <a:cs typeface="Times New Roman" panose="02020603050405020304" pitchFamily="18" charset="0"/>
              </a:rPr>
              <a:t>Integrated graphics supported </a:t>
            </a:r>
          </a:p>
          <a:p>
            <a:pPr lvl="0"/>
            <a:r>
              <a:rPr lang="en-IN" sz="1900" dirty="0">
                <a:latin typeface="Times New Roman" panose="02020603050405020304" pitchFamily="18" charset="0"/>
                <a:cs typeface="Times New Roman" panose="02020603050405020304" pitchFamily="18" charset="0"/>
              </a:rPr>
              <a:t>Dedicated GPU recommended for faster deepfake/AI processing</a:t>
            </a:r>
          </a:p>
        </p:txBody>
      </p:sp>
    </p:spTree>
    <p:extLst>
      <p:ext uri="{BB962C8B-B14F-4D97-AF65-F5344CB8AC3E}">
        <p14:creationId xmlns:p14="http://schemas.microsoft.com/office/powerpoint/2010/main" val="3653642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8483B-6912-A9E4-EA16-05BF30E0D11B}"/>
              </a:ext>
            </a:extLst>
          </p:cNvPr>
          <p:cNvSpPr>
            <a:spLocks noGrp="1"/>
          </p:cNvSpPr>
          <p:nvPr>
            <p:ph type="title"/>
          </p:nvPr>
        </p:nvSpPr>
        <p:spPr/>
        <p:txBody>
          <a:bodyPr>
            <a:normAutofit/>
          </a:bodyPr>
          <a:lstStyle/>
          <a:p>
            <a:r>
              <a:rPr lang="en-US" sz="3200" b="1" dirty="0">
                <a:solidFill>
                  <a:schemeClr val="tx1"/>
                </a:solidFill>
                <a:latin typeface="Aptos Narrow" panose="020B0004020202020204" pitchFamily="34" charset="0"/>
              </a:rPr>
              <a:t>ADVANTAGES </a:t>
            </a:r>
            <a:br>
              <a:rPr lang="en-US" sz="3200" b="1" dirty="0">
                <a:solidFill>
                  <a:schemeClr val="tx1"/>
                </a:solidFill>
                <a:latin typeface="Aptos Narrow" panose="020B0004020202020204" pitchFamily="34" charset="0"/>
              </a:rPr>
            </a:br>
            <a:r>
              <a:rPr lang="en-US" sz="3200" b="1" dirty="0">
                <a:solidFill>
                  <a:schemeClr val="tx1"/>
                </a:solidFill>
                <a:latin typeface="Aptos Narrow" panose="020B0004020202020204" pitchFamily="34" charset="0"/>
              </a:rPr>
              <a:t>OF PROPOSED SYSTEM</a:t>
            </a:r>
            <a:endParaRPr lang="en-IN" sz="3200" b="1" dirty="0">
              <a:solidFill>
                <a:schemeClr val="tx1"/>
              </a:solidFill>
              <a:latin typeface="Aptos Narrow" panose="020B0004020202020204" pitchFamily="34" charset="0"/>
            </a:endParaRPr>
          </a:p>
        </p:txBody>
      </p:sp>
      <p:sp>
        <p:nvSpPr>
          <p:cNvPr id="3" name="Content Placeholder 2">
            <a:extLst>
              <a:ext uri="{FF2B5EF4-FFF2-40B4-BE49-F238E27FC236}">
                <a16:creationId xmlns:a16="http://schemas.microsoft.com/office/drawing/2014/main" id="{80115A92-3E6C-C708-A0B6-1CC62E0044D0}"/>
              </a:ext>
            </a:extLst>
          </p:cNvPr>
          <p:cNvSpPr>
            <a:spLocks noGrp="1"/>
          </p:cNvSpPr>
          <p:nvPr>
            <p:ph idx="1"/>
          </p:nvPr>
        </p:nvSpPr>
        <p:spPr>
          <a:xfrm>
            <a:off x="5232400" y="772668"/>
            <a:ext cx="5088468" cy="5120640"/>
          </a:xfrm>
        </p:spPr>
        <p:txBody>
          <a:bodyPr>
            <a:normAutofit/>
          </a:bodyPr>
          <a:lstStyle/>
          <a:p>
            <a:pPr lvl="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Automated Video Verification </a:t>
            </a:r>
          </a:p>
          <a:p>
            <a:pPr lvl="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Accurate Transcript Generation </a:t>
            </a:r>
          </a:p>
          <a:p>
            <a:pPr lvl="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Important Information Extraction </a:t>
            </a:r>
          </a:p>
          <a:p>
            <a:pPr lvl="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Related News Search </a:t>
            </a:r>
          </a:p>
          <a:p>
            <a:pPr lvl="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Deepfake Detection </a:t>
            </a:r>
          </a:p>
          <a:p>
            <a:pPr lvl="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Risk Assessment </a:t>
            </a:r>
          </a:p>
          <a:p>
            <a:pPr lvl="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PDF Report Generation </a:t>
            </a:r>
          </a:p>
          <a:p>
            <a:pPr lvl="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Database Storage </a:t>
            </a:r>
          </a:p>
          <a:p>
            <a:pPr lvl="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Easy-to-Use Interface</a:t>
            </a:r>
          </a:p>
        </p:txBody>
      </p:sp>
    </p:spTree>
    <p:extLst>
      <p:ext uri="{BB962C8B-B14F-4D97-AF65-F5344CB8AC3E}">
        <p14:creationId xmlns:p14="http://schemas.microsoft.com/office/powerpoint/2010/main" val="15420901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31C91-A7FB-0A80-44D1-9FA05F767FEF}"/>
              </a:ext>
            </a:extLst>
          </p:cNvPr>
          <p:cNvSpPr>
            <a:spLocks noGrp="1"/>
          </p:cNvSpPr>
          <p:nvPr>
            <p:ph type="title"/>
          </p:nvPr>
        </p:nvSpPr>
        <p:spPr/>
        <p:txBody>
          <a:bodyPr>
            <a:normAutofit/>
          </a:bodyPr>
          <a:lstStyle/>
          <a:p>
            <a:r>
              <a:rPr lang="en-US" sz="3200" b="1" dirty="0">
                <a:solidFill>
                  <a:schemeClr val="tx1"/>
                </a:solidFill>
                <a:latin typeface="Aptos Narrow" panose="020B0004020202020204" pitchFamily="34" charset="0"/>
              </a:rPr>
              <a:t>MODULES USED</a:t>
            </a:r>
            <a:endParaRPr lang="en-IN" sz="3200" b="1" dirty="0">
              <a:solidFill>
                <a:schemeClr val="tx1"/>
              </a:solidFill>
              <a:latin typeface="Aptos Narrow" panose="020B0004020202020204" pitchFamily="34" charset="0"/>
            </a:endParaRPr>
          </a:p>
        </p:txBody>
      </p:sp>
      <p:sp>
        <p:nvSpPr>
          <p:cNvPr id="3" name="Content Placeholder 2">
            <a:extLst>
              <a:ext uri="{FF2B5EF4-FFF2-40B4-BE49-F238E27FC236}">
                <a16:creationId xmlns:a16="http://schemas.microsoft.com/office/drawing/2014/main" id="{7B4229AF-D618-B67A-4ECD-6FD44B992E76}"/>
              </a:ext>
            </a:extLst>
          </p:cNvPr>
          <p:cNvSpPr>
            <a:spLocks noGrp="1"/>
          </p:cNvSpPr>
          <p:nvPr>
            <p:ph idx="1"/>
          </p:nvPr>
        </p:nvSpPr>
        <p:spPr>
          <a:xfrm>
            <a:off x="5354320" y="742188"/>
            <a:ext cx="5088467" cy="5120640"/>
          </a:xfrm>
        </p:spPr>
        <p:txBody>
          <a:bodyPr>
            <a:normAutofit/>
          </a:bodyPr>
          <a:lstStyle/>
          <a:p>
            <a:pPr lvl="0"/>
            <a:r>
              <a:rPr lang="en-IN" sz="1800" dirty="0">
                <a:latin typeface="Times New Roman" panose="02020603050405020304" pitchFamily="18" charset="0"/>
                <a:cs typeface="Times New Roman" panose="02020603050405020304" pitchFamily="18" charset="0"/>
              </a:rPr>
              <a:t>Video Upload Module </a:t>
            </a:r>
          </a:p>
          <a:p>
            <a:pPr lvl="0"/>
            <a:r>
              <a:rPr lang="en-IN" sz="1800" dirty="0">
                <a:latin typeface="Times New Roman" panose="02020603050405020304" pitchFamily="18" charset="0"/>
                <a:cs typeface="Times New Roman" panose="02020603050405020304" pitchFamily="18" charset="0"/>
              </a:rPr>
              <a:t>Audio Extraction Module </a:t>
            </a:r>
          </a:p>
          <a:p>
            <a:pPr lvl="0"/>
            <a:r>
              <a:rPr lang="en-IN" sz="1800" dirty="0">
                <a:latin typeface="Times New Roman" panose="02020603050405020304" pitchFamily="18" charset="0"/>
                <a:cs typeface="Times New Roman" panose="02020603050405020304" pitchFamily="18" charset="0"/>
              </a:rPr>
              <a:t>Speech-to-Text Module </a:t>
            </a:r>
          </a:p>
          <a:p>
            <a:pPr lvl="0"/>
            <a:r>
              <a:rPr lang="en-IN" sz="1800" dirty="0">
                <a:latin typeface="Times New Roman" panose="02020603050405020304" pitchFamily="18" charset="0"/>
                <a:cs typeface="Times New Roman" panose="02020603050405020304" pitchFamily="18" charset="0"/>
              </a:rPr>
              <a:t>Information Highlight Module </a:t>
            </a:r>
          </a:p>
          <a:p>
            <a:pPr lvl="0"/>
            <a:r>
              <a:rPr lang="en-IN" sz="1800" dirty="0">
                <a:latin typeface="Times New Roman" panose="02020603050405020304" pitchFamily="18" charset="0"/>
                <a:cs typeface="Times New Roman" panose="02020603050405020304" pitchFamily="18" charset="0"/>
              </a:rPr>
              <a:t>Related News Search Module </a:t>
            </a:r>
          </a:p>
          <a:p>
            <a:pPr lvl="0"/>
            <a:r>
              <a:rPr lang="en-IN" sz="1800" dirty="0">
                <a:latin typeface="Times New Roman" panose="02020603050405020304" pitchFamily="18" charset="0"/>
                <a:cs typeface="Times New Roman" panose="02020603050405020304" pitchFamily="18" charset="0"/>
              </a:rPr>
              <a:t>Authenticity &amp; Risk Analysis Module </a:t>
            </a:r>
          </a:p>
          <a:p>
            <a:pPr lvl="0"/>
            <a:r>
              <a:rPr lang="en-IN" sz="1800" dirty="0">
                <a:latin typeface="Times New Roman" panose="02020603050405020304" pitchFamily="18" charset="0"/>
                <a:cs typeface="Times New Roman" panose="02020603050405020304" pitchFamily="18" charset="0"/>
              </a:rPr>
              <a:t>Deepfake Detection Module </a:t>
            </a:r>
          </a:p>
          <a:p>
            <a:pPr lvl="0"/>
            <a:r>
              <a:rPr lang="en-IN" sz="1800" dirty="0">
                <a:latin typeface="Times New Roman" panose="02020603050405020304" pitchFamily="18" charset="0"/>
                <a:cs typeface="Times New Roman" panose="02020603050405020304" pitchFamily="18" charset="0"/>
              </a:rPr>
              <a:t>PDF Report Module </a:t>
            </a:r>
          </a:p>
          <a:p>
            <a:pPr lvl="0"/>
            <a:r>
              <a:rPr lang="en-IN" sz="1800" dirty="0">
                <a:latin typeface="Times New Roman" panose="02020603050405020304" pitchFamily="18" charset="0"/>
                <a:cs typeface="Times New Roman" panose="02020603050405020304" pitchFamily="18" charset="0"/>
              </a:rPr>
              <a:t>Database Management Module</a:t>
            </a:r>
          </a:p>
        </p:txBody>
      </p:sp>
    </p:spTree>
    <p:extLst>
      <p:ext uri="{BB962C8B-B14F-4D97-AF65-F5344CB8AC3E}">
        <p14:creationId xmlns:p14="http://schemas.microsoft.com/office/powerpoint/2010/main" val="2014083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E001C-A955-4BE8-52E4-3EA2D98FD607}"/>
              </a:ext>
            </a:extLst>
          </p:cNvPr>
          <p:cNvSpPr>
            <a:spLocks noGrp="1"/>
          </p:cNvSpPr>
          <p:nvPr>
            <p:ph type="title"/>
          </p:nvPr>
        </p:nvSpPr>
        <p:spPr/>
        <p:txBody>
          <a:bodyPr>
            <a:normAutofit/>
          </a:bodyPr>
          <a:lstStyle/>
          <a:p>
            <a:r>
              <a:rPr lang="en-US" sz="3200" b="1" dirty="0">
                <a:solidFill>
                  <a:schemeClr val="tx1"/>
                </a:solidFill>
                <a:latin typeface="Aptos Narrow" panose="020B0004020202020204" pitchFamily="34" charset="0"/>
              </a:rPr>
              <a:t>SYSTEM ARCHITECTURE</a:t>
            </a:r>
            <a:endParaRPr lang="en-IN" sz="3200" b="1" dirty="0">
              <a:solidFill>
                <a:schemeClr val="tx1"/>
              </a:solidFill>
              <a:latin typeface="Aptos Narrow" panose="020B0004020202020204" pitchFamily="34" charset="0"/>
            </a:endParaRPr>
          </a:p>
        </p:txBody>
      </p:sp>
      <p:pic>
        <p:nvPicPr>
          <p:cNvPr id="7" name="Content Placeholder 6">
            <a:extLst>
              <a:ext uri="{FF2B5EF4-FFF2-40B4-BE49-F238E27FC236}">
                <a16:creationId xmlns:a16="http://schemas.microsoft.com/office/drawing/2014/main" id="{2973D4B5-B55E-E254-6782-67A4D8BFF311}"/>
              </a:ext>
            </a:extLst>
          </p:cNvPr>
          <p:cNvPicPr>
            <a:picLocks noGrp="1" noChangeAspect="1"/>
          </p:cNvPicPr>
          <p:nvPr>
            <p:ph idx="1"/>
          </p:nvPr>
        </p:nvPicPr>
        <p:blipFill>
          <a:blip r:embed="rId2"/>
          <a:stretch>
            <a:fillRect/>
          </a:stretch>
        </p:blipFill>
        <p:spPr>
          <a:xfrm>
            <a:off x="3939858" y="986028"/>
            <a:ext cx="7315200" cy="4876800"/>
          </a:xfrm>
          <a:prstGeom prst="rect">
            <a:avLst/>
          </a:prstGeom>
        </p:spPr>
      </p:pic>
    </p:spTree>
    <p:extLst>
      <p:ext uri="{BB962C8B-B14F-4D97-AF65-F5344CB8AC3E}">
        <p14:creationId xmlns:p14="http://schemas.microsoft.com/office/powerpoint/2010/main" val="1180212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9B90E-6E5E-8FF4-139D-F79DE3D2D48B}"/>
              </a:ext>
            </a:extLst>
          </p:cNvPr>
          <p:cNvSpPr>
            <a:spLocks noGrp="1"/>
          </p:cNvSpPr>
          <p:nvPr>
            <p:ph type="title"/>
          </p:nvPr>
        </p:nvSpPr>
        <p:spPr/>
        <p:txBody>
          <a:bodyPr/>
          <a:lstStyle/>
          <a:p>
            <a:r>
              <a:rPr lang="en-IN" dirty="0"/>
              <a:t>USE CASE DIAGRAM</a:t>
            </a:r>
          </a:p>
        </p:txBody>
      </p:sp>
      <p:pic>
        <p:nvPicPr>
          <p:cNvPr id="9" name="Content Placeholder 8">
            <a:extLst>
              <a:ext uri="{FF2B5EF4-FFF2-40B4-BE49-F238E27FC236}">
                <a16:creationId xmlns:a16="http://schemas.microsoft.com/office/drawing/2014/main" id="{A8B4E47D-F7F8-29C9-19FB-ACC90D1AFCCC}"/>
              </a:ext>
            </a:extLst>
          </p:cNvPr>
          <p:cNvPicPr>
            <a:picLocks noGrp="1" noChangeAspect="1"/>
          </p:cNvPicPr>
          <p:nvPr>
            <p:ph idx="1"/>
          </p:nvPr>
        </p:nvPicPr>
        <p:blipFill>
          <a:blip r:embed="rId2"/>
          <a:stretch>
            <a:fillRect/>
          </a:stretch>
        </p:blipFill>
        <p:spPr>
          <a:xfrm>
            <a:off x="3868738" y="985837"/>
            <a:ext cx="7315200" cy="4876800"/>
          </a:xfrm>
          <a:prstGeom prst="rect">
            <a:avLst/>
          </a:prstGeom>
        </p:spPr>
      </p:pic>
    </p:spTree>
    <p:extLst>
      <p:ext uri="{BB962C8B-B14F-4D97-AF65-F5344CB8AC3E}">
        <p14:creationId xmlns:p14="http://schemas.microsoft.com/office/powerpoint/2010/main" val="15464694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8661F-9198-B24A-DCCD-18A469F42C91}"/>
              </a:ext>
            </a:extLst>
          </p:cNvPr>
          <p:cNvSpPr>
            <a:spLocks noGrp="1"/>
          </p:cNvSpPr>
          <p:nvPr>
            <p:ph type="title"/>
          </p:nvPr>
        </p:nvSpPr>
        <p:spPr/>
        <p:txBody>
          <a:bodyPr/>
          <a:lstStyle/>
          <a:p>
            <a:r>
              <a:rPr lang="en-IN" dirty="0"/>
              <a:t>CLASS DIAGRAM</a:t>
            </a:r>
          </a:p>
        </p:txBody>
      </p:sp>
      <p:pic>
        <p:nvPicPr>
          <p:cNvPr id="5" name="Content Placeholder 4">
            <a:extLst>
              <a:ext uri="{FF2B5EF4-FFF2-40B4-BE49-F238E27FC236}">
                <a16:creationId xmlns:a16="http://schemas.microsoft.com/office/drawing/2014/main" id="{7C39B931-FD93-CA51-5336-1AEC7FB76AF7}"/>
              </a:ext>
            </a:extLst>
          </p:cNvPr>
          <p:cNvPicPr>
            <a:picLocks noGrp="1" noChangeAspect="1"/>
          </p:cNvPicPr>
          <p:nvPr>
            <p:ph idx="1"/>
          </p:nvPr>
        </p:nvPicPr>
        <p:blipFill>
          <a:blip r:embed="rId2"/>
          <a:stretch>
            <a:fillRect/>
          </a:stretch>
        </p:blipFill>
        <p:spPr>
          <a:xfrm>
            <a:off x="3868738" y="985837"/>
            <a:ext cx="7315200" cy="4876800"/>
          </a:xfrm>
          <a:prstGeom prst="rect">
            <a:avLst/>
          </a:prstGeom>
        </p:spPr>
      </p:pic>
    </p:spTree>
    <p:extLst>
      <p:ext uri="{BB962C8B-B14F-4D97-AF65-F5344CB8AC3E}">
        <p14:creationId xmlns:p14="http://schemas.microsoft.com/office/powerpoint/2010/main" val="372039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5AEF2-8397-B335-25EF-DC593B351AD3}"/>
              </a:ext>
            </a:extLst>
          </p:cNvPr>
          <p:cNvSpPr>
            <a:spLocks noGrp="1"/>
          </p:cNvSpPr>
          <p:nvPr>
            <p:ph type="title"/>
          </p:nvPr>
        </p:nvSpPr>
        <p:spPr/>
        <p:txBody>
          <a:bodyPr/>
          <a:lstStyle/>
          <a:p>
            <a:r>
              <a:rPr lang="en-IN" dirty="0"/>
              <a:t>SEQUENCE DIAGRAM</a:t>
            </a:r>
          </a:p>
        </p:txBody>
      </p:sp>
      <p:pic>
        <p:nvPicPr>
          <p:cNvPr id="5" name="Content Placeholder 4">
            <a:extLst>
              <a:ext uri="{FF2B5EF4-FFF2-40B4-BE49-F238E27FC236}">
                <a16:creationId xmlns:a16="http://schemas.microsoft.com/office/drawing/2014/main" id="{4E001F73-9424-A148-DFC5-49AB1ADF1056}"/>
              </a:ext>
            </a:extLst>
          </p:cNvPr>
          <p:cNvPicPr>
            <a:picLocks noGrp="1" noChangeAspect="1"/>
          </p:cNvPicPr>
          <p:nvPr>
            <p:ph idx="1"/>
          </p:nvPr>
        </p:nvPicPr>
        <p:blipFill>
          <a:blip r:embed="rId2"/>
          <a:stretch>
            <a:fillRect/>
          </a:stretch>
        </p:blipFill>
        <p:spPr>
          <a:xfrm>
            <a:off x="3868738" y="985837"/>
            <a:ext cx="7315200" cy="4876800"/>
          </a:xfrm>
          <a:prstGeom prst="rect">
            <a:avLst/>
          </a:prstGeom>
        </p:spPr>
      </p:pic>
    </p:spTree>
    <p:extLst>
      <p:ext uri="{BB962C8B-B14F-4D97-AF65-F5344CB8AC3E}">
        <p14:creationId xmlns:p14="http://schemas.microsoft.com/office/powerpoint/2010/main" val="4207533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EC396-3AF3-EA33-4BCE-F4C059D3DD2E}"/>
              </a:ext>
            </a:extLst>
          </p:cNvPr>
          <p:cNvSpPr>
            <a:spLocks noGrp="1"/>
          </p:cNvSpPr>
          <p:nvPr>
            <p:ph type="title"/>
          </p:nvPr>
        </p:nvSpPr>
        <p:spPr>
          <a:xfrm>
            <a:off x="0" y="1123837"/>
            <a:ext cx="3518807" cy="4601183"/>
          </a:xfrm>
        </p:spPr>
        <p:txBody>
          <a:bodyPr>
            <a:normAutofit/>
          </a:bodyPr>
          <a:lstStyle/>
          <a:p>
            <a:r>
              <a:rPr lang="en-US" sz="3200" b="1" dirty="0">
                <a:solidFill>
                  <a:schemeClr val="tx1"/>
                </a:solidFill>
                <a:latin typeface="Aptos Narrow" panose="020B0004020202020204" pitchFamily="34" charset="0"/>
              </a:rPr>
              <a:t>IMPLEMENTATION</a:t>
            </a:r>
            <a:endParaRPr lang="en-IN" sz="3200" b="1" dirty="0">
              <a:solidFill>
                <a:schemeClr val="tx1"/>
              </a:solidFill>
              <a:latin typeface="Aptos Narrow" panose="020B0004020202020204" pitchFamily="34" charset="0"/>
            </a:endParaRPr>
          </a:p>
        </p:txBody>
      </p:sp>
      <p:pic>
        <p:nvPicPr>
          <p:cNvPr id="11" name="Content Placeholder 10">
            <a:extLst>
              <a:ext uri="{FF2B5EF4-FFF2-40B4-BE49-F238E27FC236}">
                <a16:creationId xmlns:a16="http://schemas.microsoft.com/office/drawing/2014/main" id="{DFFA29A8-9B8E-BCDC-5784-537BC4570BF4}"/>
              </a:ext>
            </a:extLst>
          </p:cNvPr>
          <p:cNvPicPr>
            <a:picLocks noGrp="1" noChangeAspect="1"/>
          </p:cNvPicPr>
          <p:nvPr>
            <p:ph idx="1"/>
          </p:nvPr>
        </p:nvPicPr>
        <p:blipFill>
          <a:blip r:embed="rId2"/>
          <a:stretch>
            <a:fillRect/>
          </a:stretch>
        </p:blipFill>
        <p:spPr>
          <a:xfrm>
            <a:off x="4937760" y="863600"/>
            <a:ext cx="4754879" cy="5121275"/>
          </a:xfrm>
          <a:prstGeom prst="rect">
            <a:avLst/>
          </a:prstGeom>
        </p:spPr>
      </p:pic>
    </p:spTree>
    <p:extLst>
      <p:ext uri="{BB962C8B-B14F-4D97-AF65-F5344CB8AC3E}">
        <p14:creationId xmlns:p14="http://schemas.microsoft.com/office/powerpoint/2010/main" val="2614293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73BA5-31B7-9436-6E1A-71204740660F}"/>
              </a:ext>
            </a:extLst>
          </p:cNvPr>
          <p:cNvSpPr>
            <a:spLocks noGrp="1"/>
          </p:cNvSpPr>
          <p:nvPr>
            <p:ph type="title"/>
          </p:nvPr>
        </p:nvSpPr>
        <p:spPr/>
        <p:txBody>
          <a:bodyPr>
            <a:normAutofit/>
          </a:bodyPr>
          <a:lstStyle/>
          <a:p>
            <a:r>
              <a:rPr lang="en-US" sz="3200" b="1" dirty="0">
                <a:solidFill>
                  <a:schemeClr val="tx1"/>
                </a:solidFill>
                <a:latin typeface="Aptos Narrow" panose="020B0004020202020204" pitchFamily="34" charset="0"/>
              </a:rPr>
              <a:t>TESTING AND VALIDATION</a:t>
            </a:r>
            <a:endParaRPr lang="en-IN" sz="3200" b="1" dirty="0">
              <a:solidFill>
                <a:schemeClr val="tx1"/>
              </a:solidFill>
              <a:latin typeface="Aptos Narrow" panose="020B0004020202020204" pitchFamily="34" charset="0"/>
            </a:endParaRPr>
          </a:p>
        </p:txBody>
      </p:sp>
      <p:sp>
        <p:nvSpPr>
          <p:cNvPr id="3" name="Content Placeholder 2">
            <a:extLst>
              <a:ext uri="{FF2B5EF4-FFF2-40B4-BE49-F238E27FC236}">
                <a16:creationId xmlns:a16="http://schemas.microsoft.com/office/drawing/2014/main" id="{7461FAFC-DC44-D774-9F1B-2A06D63E49E2}"/>
              </a:ext>
            </a:extLst>
          </p:cNvPr>
          <p:cNvSpPr>
            <a:spLocks noGrp="1"/>
          </p:cNvSpPr>
          <p:nvPr>
            <p:ph idx="1"/>
          </p:nvPr>
        </p:nvSpPr>
        <p:spPr>
          <a:xfrm>
            <a:off x="4062308" y="864108"/>
            <a:ext cx="7315200" cy="5120640"/>
          </a:xfrm>
        </p:spPr>
        <p:txBody>
          <a:bodyPr>
            <a:normAutofit/>
          </a:bodyPr>
          <a:lstStyle/>
          <a:p>
            <a:pPr lvl="0"/>
            <a:r>
              <a:rPr lang="en-IN" sz="1800" b="1" dirty="0">
                <a:latin typeface="Times New Roman" panose="02020603050405020304" pitchFamily="18" charset="0"/>
                <a:cs typeface="Times New Roman" panose="02020603050405020304" pitchFamily="18" charset="0"/>
              </a:rPr>
              <a:t>Video Upload:</a:t>
            </a:r>
            <a:r>
              <a:rPr lang="en-IN" sz="1800" dirty="0">
                <a:latin typeface="Times New Roman" panose="02020603050405020304" pitchFamily="18" charset="0"/>
                <a:cs typeface="Times New Roman" panose="02020603050405020304" pitchFamily="18" charset="0"/>
              </a:rPr>
              <a:t> Valid and invalid video testing. </a:t>
            </a:r>
          </a:p>
          <a:p>
            <a:pPr lvl="0"/>
            <a:r>
              <a:rPr lang="en-IN" sz="1800" b="1" dirty="0">
                <a:latin typeface="Times New Roman" panose="02020603050405020304" pitchFamily="18" charset="0"/>
                <a:cs typeface="Times New Roman" panose="02020603050405020304" pitchFamily="18" charset="0"/>
              </a:rPr>
              <a:t>Transcription:</a:t>
            </a:r>
            <a:r>
              <a:rPr lang="en-IN" sz="1800" dirty="0">
                <a:latin typeface="Times New Roman" panose="02020603050405020304" pitchFamily="18" charset="0"/>
                <a:cs typeface="Times New Roman" panose="02020603050405020304" pitchFamily="18" charset="0"/>
              </a:rPr>
              <a:t> Check audio-to-text accuracy. </a:t>
            </a:r>
          </a:p>
          <a:p>
            <a:pPr lvl="0"/>
            <a:r>
              <a:rPr lang="en-IN" sz="1800" b="1" dirty="0">
                <a:latin typeface="Times New Roman" panose="02020603050405020304" pitchFamily="18" charset="0"/>
                <a:cs typeface="Times New Roman" panose="02020603050405020304" pitchFamily="18" charset="0"/>
              </a:rPr>
              <a:t>Claim Extraction:</a:t>
            </a:r>
            <a:r>
              <a:rPr lang="en-IN" sz="1800" dirty="0">
                <a:latin typeface="Times New Roman" panose="02020603050405020304" pitchFamily="18" charset="0"/>
                <a:cs typeface="Times New Roman" panose="02020603050405020304" pitchFamily="18" charset="0"/>
              </a:rPr>
              <a:t> Verify extracted claims. </a:t>
            </a:r>
          </a:p>
          <a:p>
            <a:pPr lvl="0"/>
            <a:r>
              <a:rPr lang="en-IN" sz="1800" b="1" dirty="0">
                <a:latin typeface="Times New Roman" panose="02020603050405020304" pitchFamily="18" charset="0"/>
                <a:cs typeface="Times New Roman" panose="02020603050405020304" pitchFamily="18" charset="0"/>
              </a:rPr>
              <a:t>News Verification:</a:t>
            </a:r>
            <a:r>
              <a:rPr lang="en-IN" sz="1800" dirty="0">
                <a:latin typeface="Times New Roman" panose="02020603050405020304" pitchFamily="18" charset="0"/>
                <a:cs typeface="Times New Roman" panose="02020603050405020304" pitchFamily="18" charset="0"/>
              </a:rPr>
              <a:t> Cross-check claims with news sources. </a:t>
            </a:r>
          </a:p>
          <a:p>
            <a:pPr lvl="0"/>
            <a:r>
              <a:rPr lang="en-IN" sz="1800" b="1" dirty="0">
                <a:latin typeface="Times New Roman" panose="02020603050405020304" pitchFamily="18" charset="0"/>
                <a:cs typeface="Times New Roman" panose="02020603050405020304" pitchFamily="18" charset="0"/>
              </a:rPr>
              <a:t>Result Testing:</a:t>
            </a:r>
            <a:r>
              <a:rPr lang="en-IN" sz="1800" dirty="0">
                <a:latin typeface="Times New Roman" panose="02020603050405020304" pitchFamily="18" charset="0"/>
                <a:cs typeface="Times New Roman" panose="02020603050405020304" pitchFamily="18" charset="0"/>
              </a:rPr>
              <a:t> Check Real/Fake/Unverified output. </a:t>
            </a:r>
          </a:p>
          <a:p>
            <a:pPr lvl="0"/>
            <a:r>
              <a:rPr lang="en-IN" sz="1800" b="1" dirty="0">
                <a:latin typeface="Times New Roman" panose="02020603050405020304" pitchFamily="18" charset="0"/>
                <a:cs typeface="Times New Roman" panose="02020603050405020304" pitchFamily="18" charset="0"/>
              </a:rPr>
              <a:t>Error Testing:</a:t>
            </a:r>
            <a:r>
              <a:rPr lang="en-IN" sz="1800" dirty="0">
                <a:latin typeface="Times New Roman" panose="02020603050405020304" pitchFamily="18" charset="0"/>
                <a:cs typeface="Times New Roman" panose="02020603050405020304" pitchFamily="18" charset="0"/>
              </a:rPr>
              <a:t> Test API, network, and file errors. </a:t>
            </a:r>
          </a:p>
          <a:p>
            <a:pPr lvl="0"/>
            <a:r>
              <a:rPr lang="en-IN" sz="1800" b="1" dirty="0">
                <a:latin typeface="Times New Roman" panose="02020603050405020304" pitchFamily="18" charset="0"/>
                <a:cs typeface="Times New Roman" panose="02020603050405020304" pitchFamily="18" charset="0"/>
              </a:rPr>
              <a:t>Database Validation:</a:t>
            </a:r>
            <a:r>
              <a:rPr lang="en-IN" sz="1800" dirty="0">
                <a:latin typeface="Times New Roman" panose="02020603050405020304" pitchFamily="18" charset="0"/>
                <a:cs typeface="Times New Roman" panose="02020603050405020304" pitchFamily="18" charset="0"/>
              </a:rPr>
              <a:t> Cross-check stored results and logs. </a:t>
            </a:r>
          </a:p>
          <a:p>
            <a:pPr lvl="0"/>
            <a:r>
              <a:rPr lang="en-IN" sz="1800" b="1" dirty="0">
                <a:latin typeface="Times New Roman" panose="02020603050405020304" pitchFamily="18" charset="0"/>
                <a:cs typeface="Times New Roman" panose="02020603050405020304" pitchFamily="18" charset="0"/>
              </a:rPr>
              <a:t>User Feedback:</a:t>
            </a:r>
            <a:r>
              <a:rPr lang="en-IN" sz="1800" dirty="0">
                <a:latin typeface="Times New Roman" panose="02020603050405020304" pitchFamily="18" charset="0"/>
                <a:cs typeface="Times New Roman" panose="02020603050405020304" pitchFamily="18" charset="0"/>
              </a:rPr>
              <a:t> Evaluate accuracy and usability.</a:t>
            </a:r>
          </a:p>
        </p:txBody>
      </p:sp>
    </p:spTree>
    <p:extLst>
      <p:ext uri="{BB962C8B-B14F-4D97-AF65-F5344CB8AC3E}">
        <p14:creationId xmlns:p14="http://schemas.microsoft.com/office/powerpoint/2010/main" val="2258381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4721C-98A9-C806-3C35-6449E8EE85FE}"/>
              </a:ext>
            </a:extLst>
          </p:cNvPr>
          <p:cNvSpPr>
            <a:spLocks noGrp="1"/>
          </p:cNvSpPr>
          <p:nvPr>
            <p:ph type="title"/>
          </p:nvPr>
        </p:nvSpPr>
        <p:spPr/>
        <p:txBody>
          <a:bodyPr>
            <a:normAutofit/>
          </a:bodyPr>
          <a:lstStyle/>
          <a:p>
            <a:r>
              <a:rPr lang="en-US" sz="3200" b="1" dirty="0">
                <a:solidFill>
                  <a:schemeClr val="tx1"/>
                </a:solidFill>
                <a:latin typeface="Aptos Narrow" panose="020B0004020202020204" pitchFamily="34" charset="0"/>
              </a:rPr>
              <a:t>TESTING</a:t>
            </a:r>
            <a:endParaRPr lang="en-IN" sz="3200" b="1" dirty="0">
              <a:solidFill>
                <a:schemeClr val="tx1"/>
              </a:solidFill>
              <a:latin typeface="Aptos Narrow" panose="020B0004020202020204" pitchFamily="34" charset="0"/>
            </a:endParaRPr>
          </a:p>
        </p:txBody>
      </p:sp>
      <p:pic>
        <p:nvPicPr>
          <p:cNvPr id="7" name="Content Placeholder 6">
            <a:extLst>
              <a:ext uri="{FF2B5EF4-FFF2-40B4-BE49-F238E27FC236}">
                <a16:creationId xmlns:a16="http://schemas.microsoft.com/office/drawing/2014/main" id="{770DC511-9343-5B98-E913-D6DDDC5FB4E1}"/>
              </a:ext>
            </a:extLst>
          </p:cNvPr>
          <p:cNvPicPr>
            <a:picLocks noGrp="1" noChangeAspect="1"/>
          </p:cNvPicPr>
          <p:nvPr>
            <p:ph idx="1"/>
          </p:nvPr>
        </p:nvPicPr>
        <p:blipFill>
          <a:blip r:embed="rId2"/>
          <a:stretch>
            <a:fillRect/>
          </a:stretch>
        </p:blipFill>
        <p:spPr>
          <a:xfrm>
            <a:off x="3868738" y="1265010"/>
            <a:ext cx="7315200" cy="4318454"/>
          </a:xfrm>
          <a:prstGeom prst="rect">
            <a:avLst/>
          </a:prstGeom>
        </p:spPr>
      </p:pic>
    </p:spTree>
    <p:extLst>
      <p:ext uri="{BB962C8B-B14F-4D97-AF65-F5344CB8AC3E}">
        <p14:creationId xmlns:p14="http://schemas.microsoft.com/office/powerpoint/2010/main" val="3763393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12198-FB5E-7A19-6197-B899B4890D40}"/>
              </a:ext>
            </a:extLst>
          </p:cNvPr>
          <p:cNvSpPr>
            <a:spLocks noGrp="1"/>
          </p:cNvSpPr>
          <p:nvPr>
            <p:ph type="title"/>
          </p:nvPr>
        </p:nvSpPr>
        <p:spPr/>
        <p:txBody>
          <a:bodyPr>
            <a:normAutofit/>
          </a:bodyPr>
          <a:lstStyle/>
          <a:p>
            <a:r>
              <a:rPr lang="en-US" sz="3200" b="1" dirty="0">
                <a:solidFill>
                  <a:schemeClr val="tx1"/>
                </a:solidFill>
                <a:latin typeface="Aptos Narrow" panose="020B0004020202020204" pitchFamily="34" charset="0"/>
              </a:rPr>
              <a:t>VALIDATION</a:t>
            </a:r>
            <a:endParaRPr lang="en-IN" sz="3200" b="1" dirty="0">
              <a:solidFill>
                <a:schemeClr val="tx1"/>
              </a:solidFill>
              <a:latin typeface="Aptos Narrow" panose="020B0004020202020204" pitchFamily="34" charset="0"/>
            </a:endParaRPr>
          </a:p>
        </p:txBody>
      </p:sp>
      <p:pic>
        <p:nvPicPr>
          <p:cNvPr id="7" name="Content Placeholder 6">
            <a:extLst>
              <a:ext uri="{FF2B5EF4-FFF2-40B4-BE49-F238E27FC236}">
                <a16:creationId xmlns:a16="http://schemas.microsoft.com/office/drawing/2014/main" id="{3CE30775-602C-71AD-CF31-4F4850FA3B16}"/>
              </a:ext>
            </a:extLst>
          </p:cNvPr>
          <p:cNvPicPr>
            <a:picLocks noGrp="1" noChangeAspect="1"/>
          </p:cNvPicPr>
          <p:nvPr>
            <p:ph idx="1"/>
          </p:nvPr>
        </p:nvPicPr>
        <p:blipFill>
          <a:blip r:embed="rId2"/>
          <a:stretch>
            <a:fillRect/>
          </a:stretch>
        </p:blipFill>
        <p:spPr>
          <a:xfrm>
            <a:off x="3868738" y="1095877"/>
            <a:ext cx="7315200" cy="4656720"/>
          </a:xfrm>
          <a:prstGeom prst="rect">
            <a:avLst/>
          </a:prstGeom>
        </p:spPr>
      </p:pic>
    </p:spTree>
    <p:extLst>
      <p:ext uri="{BB962C8B-B14F-4D97-AF65-F5344CB8AC3E}">
        <p14:creationId xmlns:p14="http://schemas.microsoft.com/office/powerpoint/2010/main" val="41482856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1D1FE-C504-CAC3-374C-00F5FBA75D5C}"/>
              </a:ext>
            </a:extLst>
          </p:cNvPr>
          <p:cNvSpPr>
            <a:spLocks noGrp="1"/>
          </p:cNvSpPr>
          <p:nvPr>
            <p:ph type="title"/>
          </p:nvPr>
        </p:nvSpPr>
        <p:spPr/>
        <p:txBody>
          <a:bodyPr>
            <a:normAutofit/>
          </a:bodyPr>
          <a:lstStyle/>
          <a:p>
            <a:r>
              <a:rPr lang="en-US" sz="3200" b="1" dirty="0">
                <a:solidFill>
                  <a:schemeClr val="tx1"/>
                </a:solidFill>
                <a:latin typeface="Aptos Narrow" panose="020B0004020202020204" pitchFamily="34" charset="0"/>
              </a:rPr>
              <a:t>OUTPUT </a:t>
            </a:r>
            <a:endParaRPr lang="en-IN" sz="3200" b="1" dirty="0">
              <a:solidFill>
                <a:schemeClr val="tx1"/>
              </a:solidFill>
              <a:latin typeface="Aptos Narrow" panose="020B0004020202020204" pitchFamily="34" charset="0"/>
            </a:endParaRPr>
          </a:p>
        </p:txBody>
      </p:sp>
      <p:pic>
        <p:nvPicPr>
          <p:cNvPr id="8" name="Content Placeholder 7">
            <a:extLst>
              <a:ext uri="{FF2B5EF4-FFF2-40B4-BE49-F238E27FC236}">
                <a16:creationId xmlns:a16="http://schemas.microsoft.com/office/drawing/2014/main" id="{1CCABA03-20E5-084E-8C66-256EFC580A6A}"/>
              </a:ext>
            </a:extLst>
          </p:cNvPr>
          <p:cNvPicPr>
            <a:picLocks noGrp="1" noChangeAspect="1"/>
          </p:cNvPicPr>
          <p:nvPr>
            <p:ph idx="1"/>
          </p:nvPr>
        </p:nvPicPr>
        <p:blipFill>
          <a:blip r:embed="rId2"/>
          <a:stretch>
            <a:fillRect/>
          </a:stretch>
        </p:blipFill>
        <p:spPr>
          <a:xfrm>
            <a:off x="3859846" y="711200"/>
            <a:ext cx="3837944" cy="5384800"/>
          </a:xfrm>
          <a:prstGeom prst="rect">
            <a:avLst/>
          </a:prstGeom>
        </p:spPr>
      </p:pic>
      <p:pic>
        <p:nvPicPr>
          <p:cNvPr id="12" name="Picture 11">
            <a:extLst>
              <a:ext uri="{FF2B5EF4-FFF2-40B4-BE49-F238E27FC236}">
                <a16:creationId xmlns:a16="http://schemas.microsoft.com/office/drawing/2014/main" id="{79D41551-0AE8-14F3-DBA4-5935A737E586}"/>
              </a:ext>
            </a:extLst>
          </p:cNvPr>
          <p:cNvPicPr>
            <a:picLocks noChangeAspect="1"/>
          </p:cNvPicPr>
          <p:nvPr/>
        </p:nvPicPr>
        <p:blipFill>
          <a:blip r:embed="rId3"/>
          <a:stretch>
            <a:fillRect/>
          </a:stretch>
        </p:blipFill>
        <p:spPr>
          <a:xfrm>
            <a:off x="7833360" y="711200"/>
            <a:ext cx="4105721" cy="5384800"/>
          </a:xfrm>
          <a:prstGeom prst="rect">
            <a:avLst/>
          </a:prstGeom>
        </p:spPr>
      </p:pic>
    </p:spTree>
    <p:extLst>
      <p:ext uri="{BB962C8B-B14F-4D97-AF65-F5344CB8AC3E}">
        <p14:creationId xmlns:p14="http://schemas.microsoft.com/office/powerpoint/2010/main" val="8784754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5D331-F40C-8153-5934-060FBF81D4BD}"/>
              </a:ext>
            </a:extLst>
          </p:cNvPr>
          <p:cNvSpPr>
            <a:spLocks noGrp="1"/>
          </p:cNvSpPr>
          <p:nvPr>
            <p:ph type="title"/>
          </p:nvPr>
        </p:nvSpPr>
        <p:spPr/>
        <p:txBody>
          <a:bodyPr>
            <a:normAutofit/>
          </a:bodyPr>
          <a:lstStyle/>
          <a:p>
            <a:r>
              <a:rPr lang="en-US" sz="3200" b="1" dirty="0">
                <a:solidFill>
                  <a:schemeClr val="tx1"/>
                </a:solidFill>
                <a:latin typeface="Aptos Narrow" panose="020B0004020202020204" pitchFamily="34" charset="0"/>
              </a:rPr>
              <a:t>OUTPUT</a:t>
            </a:r>
            <a:endParaRPr lang="en-IN" sz="3200" b="1" dirty="0">
              <a:solidFill>
                <a:schemeClr val="tx1"/>
              </a:solidFill>
              <a:latin typeface="Aptos Narrow" panose="020B0004020202020204" pitchFamily="34" charset="0"/>
            </a:endParaRPr>
          </a:p>
        </p:txBody>
      </p:sp>
      <p:pic>
        <p:nvPicPr>
          <p:cNvPr id="8" name="Content Placeholder 7">
            <a:extLst>
              <a:ext uri="{FF2B5EF4-FFF2-40B4-BE49-F238E27FC236}">
                <a16:creationId xmlns:a16="http://schemas.microsoft.com/office/drawing/2014/main" id="{7ED1A2A4-D263-CD40-69AF-58D13D1E8F07}"/>
              </a:ext>
            </a:extLst>
          </p:cNvPr>
          <p:cNvPicPr>
            <a:picLocks noGrp="1" noChangeAspect="1"/>
          </p:cNvPicPr>
          <p:nvPr>
            <p:ph idx="1"/>
          </p:nvPr>
        </p:nvPicPr>
        <p:blipFill>
          <a:blip r:embed="rId2"/>
          <a:stretch>
            <a:fillRect/>
          </a:stretch>
        </p:blipFill>
        <p:spPr>
          <a:xfrm>
            <a:off x="4630487" y="1286642"/>
            <a:ext cx="5791702" cy="4275190"/>
          </a:xfrm>
          <a:prstGeom prst="rect">
            <a:avLst/>
          </a:prstGeom>
        </p:spPr>
      </p:pic>
    </p:spTree>
    <p:extLst>
      <p:ext uri="{BB962C8B-B14F-4D97-AF65-F5344CB8AC3E}">
        <p14:creationId xmlns:p14="http://schemas.microsoft.com/office/powerpoint/2010/main" val="10548724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7409E-FC83-CD58-D187-41D2028F5968}"/>
              </a:ext>
            </a:extLst>
          </p:cNvPr>
          <p:cNvSpPr>
            <a:spLocks noGrp="1"/>
          </p:cNvSpPr>
          <p:nvPr>
            <p:ph type="title"/>
          </p:nvPr>
        </p:nvSpPr>
        <p:spPr/>
        <p:txBody>
          <a:bodyPr>
            <a:normAutofit/>
          </a:bodyPr>
          <a:lstStyle/>
          <a:p>
            <a:r>
              <a:rPr lang="en-US" sz="3200" b="1" dirty="0">
                <a:solidFill>
                  <a:schemeClr val="tx1"/>
                </a:solidFill>
                <a:latin typeface="Aptos Narrow" panose="020B0004020202020204" pitchFamily="34" charset="0"/>
              </a:rPr>
              <a:t>CONCLUSION</a:t>
            </a:r>
            <a:endParaRPr lang="en-IN" sz="3200" b="1" dirty="0">
              <a:solidFill>
                <a:schemeClr val="tx1"/>
              </a:solidFill>
              <a:latin typeface="Aptos Narrow" panose="020B0004020202020204" pitchFamily="34" charset="0"/>
            </a:endParaRPr>
          </a:p>
        </p:txBody>
      </p:sp>
      <p:sp>
        <p:nvSpPr>
          <p:cNvPr id="3" name="Content Placeholder 2">
            <a:extLst>
              <a:ext uri="{FF2B5EF4-FFF2-40B4-BE49-F238E27FC236}">
                <a16:creationId xmlns:a16="http://schemas.microsoft.com/office/drawing/2014/main" id="{DDEEBD53-436B-9483-1AA4-66FF8BFB0EF7}"/>
              </a:ext>
            </a:extLst>
          </p:cNvPr>
          <p:cNvSpPr>
            <a:spLocks noGrp="1"/>
          </p:cNvSpPr>
          <p:nvPr>
            <p:ph idx="1"/>
          </p:nvPr>
        </p:nvSpPr>
        <p:spPr/>
        <p:txBody>
          <a:bodyPr/>
          <a:lstStyle/>
          <a:p>
            <a:pPr marL="0" indent="0" algn="just">
              <a:buNone/>
            </a:pPr>
            <a:endParaRPr lang="en-US" sz="1800" dirty="0">
              <a:latin typeface="Aptos Narrow" panose="020B0004020202020204" pitchFamily="34" charset="0"/>
            </a:endParaRPr>
          </a:p>
          <a:p>
            <a:pPr algn="just"/>
            <a:endParaRPr lang="en-US" dirty="0">
              <a:latin typeface="Aptos Narrow" panose="020B0004020202020204" pitchFamily="34" charset="0"/>
            </a:endParaRPr>
          </a:p>
          <a:p>
            <a:pPr algn="just"/>
            <a:r>
              <a:rPr lang="en-US" dirty="0">
                <a:latin typeface="Times New Roman" panose="02020603050405020304" pitchFamily="18" charset="0"/>
                <a:cs typeface="Times New Roman" panose="02020603050405020304" pitchFamily="18" charset="0"/>
              </a:rPr>
              <a:t>The extension of the attendance system with email notification enhances the overall efficiency and transparency of real-time attendance monitoring. By automatically sending email alerts upon successful face recognition, the system ensures instant communication with concerned individuals or authorities. The integration of email notifications into the face recognition-based attendance system significantly improves communication and transparency. Each time attendance is recorded, an automatic email is sent to the respective individual or authority, ensuring immediate awareness and reducing the need for manual updates. This real-time notification feature enhances reliability, supports timely action, and adds an extra layer of accountability to the attendance process.</a:t>
            </a:r>
          </a:p>
          <a:p>
            <a:endParaRPr lang="en-IN" dirty="0"/>
          </a:p>
        </p:txBody>
      </p:sp>
    </p:spTree>
    <p:extLst>
      <p:ext uri="{BB962C8B-B14F-4D97-AF65-F5344CB8AC3E}">
        <p14:creationId xmlns:p14="http://schemas.microsoft.com/office/powerpoint/2010/main" val="872616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6688D-79A7-6900-97A0-838D3EACEBC9}"/>
              </a:ext>
            </a:extLst>
          </p:cNvPr>
          <p:cNvSpPr>
            <a:spLocks noGrp="1"/>
          </p:cNvSpPr>
          <p:nvPr>
            <p:ph type="title"/>
          </p:nvPr>
        </p:nvSpPr>
        <p:spPr/>
        <p:txBody>
          <a:bodyPr>
            <a:normAutofit/>
          </a:bodyPr>
          <a:lstStyle/>
          <a:p>
            <a:r>
              <a:rPr lang="en-US" sz="3200" dirty="0">
                <a:solidFill>
                  <a:schemeClr val="tx1"/>
                </a:solidFill>
                <a:latin typeface="Aptos Narrow" panose="020B0004020202020204" pitchFamily="34" charset="0"/>
              </a:rPr>
              <a:t>REFERENCES</a:t>
            </a:r>
            <a:endParaRPr lang="en-IN" sz="3200" dirty="0">
              <a:solidFill>
                <a:schemeClr val="tx1"/>
              </a:solidFill>
              <a:latin typeface="Aptos Narrow" panose="020B0004020202020204" pitchFamily="34" charset="0"/>
            </a:endParaRPr>
          </a:p>
        </p:txBody>
      </p:sp>
      <p:sp>
        <p:nvSpPr>
          <p:cNvPr id="3" name="Content Placeholder 2">
            <a:extLst>
              <a:ext uri="{FF2B5EF4-FFF2-40B4-BE49-F238E27FC236}">
                <a16:creationId xmlns:a16="http://schemas.microsoft.com/office/drawing/2014/main" id="{6912F957-648D-1D35-8558-529B4349B59C}"/>
              </a:ext>
            </a:extLst>
          </p:cNvPr>
          <p:cNvSpPr>
            <a:spLocks noGrp="1"/>
          </p:cNvSpPr>
          <p:nvPr>
            <p:ph idx="1"/>
          </p:nvPr>
        </p:nvSpPr>
        <p:spPr>
          <a:xfrm>
            <a:off x="3820282" y="864108"/>
            <a:ext cx="7315200" cy="5120640"/>
          </a:xfrm>
        </p:spPr>
        <p:txBody>
          <a:bodyPr>
            <a:normAutofit/>
          </a:bodyPr>
          <a:lstStyle/>
          <a:p>
            <a:pPr lvl="0">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OpenAI Whisper - Speech Recognition</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hlinkClick r:id="rId2"/>
              </a:rPr>
              <a:t>OpenAI Whisper</a:t>
            </a:r>
            <a:r>
              <a:rPr lang="en-IN" sz="1800" dirty="0">
                <a:latin typeface="Times New Roman" panose="02020603050405020304" pitchFamily="18" charset="0"/>
                <a:cs typeface="Times New Roman" panose="02020603050405020304" pitchFamily="18" charset="0"/>
              </a:rPr>
              <a:t> - Used for converting video audio into text. </a:t>
            </a:r>
          </a:p>
          <a:p>
            <a:pPr lvl="0">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News API Documentation</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hlinkClick r:id="rId3"/>
              </a:rPr>
              <a:t>News API Documentation</a:t>
            </a:r>
            <a:r>
              <a:rPr lang="en-IN" sz="1800" dirty="0">
                <a:latin typeface="Times New Roman" panose="02020603050405020304" pitchFamily="18" charset="0"/>
                <a:cs typeface="Times New Roman" panose="02020603050405020304" pitchFamily="18" charset="0"/>
              </a:rPr>
              <a:t> - Used to search and retrieve news articles for claim verification. </a:t>
            </a:r>
          </a:p>
          <a:p>
            <a:pPr lvl="0">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Google Gemini API</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hlinkClick r:id="rId4"/>
              </a:rPr>
              <a:t>Gemini API Documentation</a:t>
            </a:r>
            <a:r>
              <a:rPr lang="en-IN" sz="1800" dirty="0">
                <a:latin typeface="Times New Roman" panose="02020603050405020304" pitchFamily="18" charset="0"/>
                <a:cs typeface="Times New Roman" panose="02020603050405020304" pitchFamily="18" charset="0"/>
              </a:rPr>
              <a:t> - Used for AI-based text analysis and claim processing. </a:t>
            </a:r>
          </a:p>
          <a:p>
            <a:pPr lvl="0">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Whisper Research Paper</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hlinkClick r:id="rId5"/>
              </a:rPr>
              <a:t>Robust Speech Recognition via Large-Scale Weak Supervision</a:t>
            </a:r>
            <a:r>
              <a:rPr lang="en-IN" sz="1800" dirty="0">
                <a:latin typeface="Times New Roman" panose="02020603050405020304" pitchFamily="18" charset="0"/>
                <a:cs typeface="Times New Roman" panose="02020603050405020304" pitchFamily="18" charset="0"/>
              </a:rPr>
              <a:t> - Reference for the speech recognition technology used in the system. </a:t>
            </a:r>
          </a:p>
          <a:p>
            <a:pPr lvl="0">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News API – Everything Endpoint</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hlinkClick r:id="rId6"/>
              </a:rPr>
              <a:t>News API Everything Endpoint</a:t>
            </a:r>
            <a:r>
              <a:rPr lang="en-IN" sz="1800" dirty="0">
                <a:latin typeface="Times New Roman" panose="02020603050405020304" pitchFamily="18" charset="0"/>
                <a:cs typeface="Times New Roman" panose="02020603050405020304" pitchFamily="18" charset="0"/>
              </a:rPr>
              <a:t> - Used for searching relevant articles based on extracted claims.</a:t>
            </a:r>
          </a:p>
        </p:txBody>
      </p:sp>
    </p:spTree>
    <p:extLst>
      <p:ext uri="{BB962C8B-B14F-4D97-AF65-F5344CB8AC3E}">
        <p14:creationId xmlns:p14="http://schemas.microsoft.com/office/powerpoint/2010/main" val="22497624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1C255-4C54-6891-B8D1-4F978CAC4855}"/>
              </a:ext>
            </a:extLst>
          </p:cNvPr>
          <p:cNvSpPr>
            <a:spLocks noGrp="1"/>
          </p:cNvSpPr>
          <p:nvPr>
            <p:ph type="ctrTitle"/>
          </p:nvPr>
        </p:nvSpPr>
        <p:spPr>
          <a:xfrm>
            <a:off x="971877" y="743276"/>
            <a:ext cx="7315200" cy="3255264"/>
          </a:xfrm>
        </p:spPr>
        <p:txBody>
          <a:bodyPr/>
          <a:lstStyle/>
          <a:p>
            <a:r>
              <a:rPr lang="en-US" b="1" i="1" dirty="0">
                <a:solidFill>
                  <a:schemeClr val="tx1"/>
                </a:solidFill>
                <a:latin typeface="Aptos Narrow" panose="020B0004020202020204" pitchFamily="34" charset="0"/>
              </a:rPr>
              <a:t>       THANK   YOU</a:t>
            </a:r>
            <a:endParaRPr lang="en-IN" b="1" i="1" dirty="0">
              <a:solidFill>
                <a:schemeClr val="tx1"/>
              </a:solidFill>
              <a:latin typeface="Aptos Narrow" panose="020B0004020202020204" pitchFamily="34" charset="0"/>
            </a:endParaRPr>
          </a:p>
        </p:txBody>
      </p:sp>
    </p:spTree>
    <p:extLst>
      <p:ext uri="{BB962C8B-B14F-4D97-AF65-F5344CB8AC3E}">
        <p14:creationId xmlns:p14="http://schemas.microsoft.com/office/powerpoint/2010/main" val="4089506808"/>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docProps/app.xml><?xml version="1.0" encoding="utf-8"?>
<Properties xmlns="http://schemas.openxmlformats.org/officeDocument/2006/extended-properties" xmlns:vt="http://schemas.openxmlformats.org/officeDocument/2006/docPropsVTypes">
  <Template>TM03457475[[fn=Frame]]</Template>
  <TotalTime>297</TotalTime>
  <Words>912</Words>
  <Application>Microsoft Office PowerPoint</Application>
  <PresentationFormat>Widescreen</PresentationFormat>
  <Paragraphs>134</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 Narrow</vt:lpstr>
      <vt:lpstr>Corbel</vt:lpstr>
      <vt:lpstr>Times New Roman</vt:lpstr>
      <vt:lpstr>Wingdings</vt:lpstr>
      <vt:lpstr>Wingdings 2</vt:lpstr>
      <vt:lpstr>Frame</vt:lpstr>
      <vt:lpstr>Title of the Idea: AI-Based Video Fact Checker</vt:lpstr>
      <vt:lpstr>CONTENTS</vt:lpstr>
      <vt:lpstr>INTRODUCTION</vt:lpstr>
      <vt:lpstr>EXISTING SYSTEM  </vt:lpstr>
      <vt:lpstr>PROPOSED SYSTEM </vt:lpstr>
      <vt:lpstr>FEATURES ADDED</vt:lpstr>
      <vt:lpstr>TECHNOLOGIES USED</vt:lpstr>
      <vt:lpstr>TECHNOLOGIES USED</vt:lpstr>
      <vt:lpstr>ADVANTAGES  OF PROPOSED SYSTEM</vt:lpstr>
      <vt:lpstr>MODULES USED</vt:lpstr>
      <vt:lpstr>SYSTEM ARCHITECTURE</vt:lpstr>
      <vt:lpstr>USE CASE DIAGRAM</vt:lpstr>
      <vt:lpstr>CLASS DIAGRAM</vt:lpstr>
      <vt:lpstr>SEQUENCE DIAGRAM</vt:lpstr>
      <vt:lpstr>IMPLEMENTATION</vt:lpstr>
      <vt:lpstr>TESTING AND VALIDATION</vt:lpstr>
      <vt:lpstr>TESTING</vt:lpstr>
      <vt:lpstr>VALIDATION</vt:lpstr>
      <vt:lpstr>OUTPUT </vt:lpstr>
      <vt:lpstr>OUTPUT</vt:lpstr>
      <vt:lpstr>CONCLUSION</vt:lpstr>
      <vt:lpstr>REFERENCES</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latha changade</dc:creator>
  <cp:lastModifiedBy>Nandini Banothu</cp:lastModifiedBy>
  <cp:revision>9</cp:revision>
  <dcterms:created xsi:type="dcterms:W3CDTF">2025-07-07T13:41:07Z</dcterms:created>
  <dcterms:modified xsi:type="dcterms:W3CDTF">2026-09-28T17:57:03Z</dcterms:modified>
</cp:coreProperties>
</file>